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(₹B)</c:v>
                </c:pt>
              </c:strCache>
            </c:strRef>
          </c:tx>
          <c:spPr>
            <a:solidFill>
              <a:srgbClr val="00C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Footwear</c:v>
                </c:pt>
                <c:pt idx="2">
                  <c:v>Accessories</c:v>
                </c:pt>
                <c:pt idx="3">
                  <c:v>Fashion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35.799999999999997</c:v>
                </c:pt>
                <c:pt idx="1">
                  <c:v>4.08</c:v>
                </c:pt>
                <c:pt idx="2">
                  <c:v>3.1</c:v>
                </c:pt>
                <c:pt idx="3">
                  <c:v>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FA-4CE4-A9A3-A0ADD47CE4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B4C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3B4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FC-412B-B428-42B06A21DC35}"/>
              </c:ext>
            </c:extLst>
          </c:dPt>
          <c:dPt>
            <c:idx val="1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FC-412B-B428-42B06A21DC35}"/>
              </c:ext>
            </c:extLst>
          </c:dPt>
          <c:dPt>
            <c:idx val="2"/>
            <c:bubble3D val="0"/>
            <c:spPr>
              <a:solidFill>
                <a:srgbClr val="FFD6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FC-412B-B428-42B06A21DC3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FC-412B-B428-42B06A21DC3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FC-412B-B428-42B06A21DC3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FC-412B-B428-42B06A21DC3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 Stock</c:v>
                </c:pt>
                <c:pt idx="1">
                  <c:v>Out of Stock</c:v>
                </c:pt>
                <c:pt idx="2">
                  <c:v>Limited Stock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683</c:v>
                </c:pt>
                <c:pt idx="1">
                  <c:v>662</c:v>
                </c:pt>
                <c:pt idx="2">
                  <c:v>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5FC-412B-B428-42B06A21DC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(₹B)</c:v>
                </c:pt>
              </c:strCache>
            </c:strRef>
          </c:tx>
          <c:spPr>
            <a:solidFill>
              <a:srgbClr val="00C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OnePlus</c:v>
                </c:pt>
                <c:pt idx="1">
                  <c:v>Samsung</c:v>
                </c:pt>
                <c:pt idx="2">
                  <c:v>Apple</c:v>
                </c:pt>
                <c:pt idx="3">
                  <c:v>Dell</c:v>
                </c:pt>
                <c:pt idx="4">
                  <c:v>Sony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5.61</c:v>
                </c:pt>
                <c:pt idx="1">
                  <c:v>5.61</c:v>
                </c:pt>
                <c:pt idx="2">
                  <c:v>5.59</c:v>
                </c:pt>
                <c:pt idx="3">
                  <c:v>4.88</c:v>
                </c:pt>
                <c:pt idx="4">
                  <c:v>4.83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A-456C-BBFE-E19DB37A53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B4C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3B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Score</c:v>
                </c:pt>
              </c:strCache>
            </c:strRef>
          </c:tx>
          <c:spPr>
            <a:ln w="25400" cap="flat">
              <a:solidFill>
                <a:srgbClr val="C996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963B"/>
              </a:solidFill>
              <a:ln w="9525" cap="flat">
                <a:solidFill>
                  <a:srgbClr val="C9963B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8.5</c:v>
                </c:pt>
                <c:pt idx="1">
                  <c:v>7.2</c:v>
                </c:pt>
                <c:pt idx="2">
                  <c:v>6.8</c:v>
                </c:pt>
                <c:pt idx="3">
                  <c:v>5.5</c:v>
                </c:pt>
                <c:pt idx="4">
                  <c:v>4.2</c:v>
                </c:pt>
                <c:pt idx="5">
                  <c:v>3.1</c:v>
                </c:pt>
                <c:pt idx="6">
                  <c:v>9.1</c:v>
                </c:pt>
                <c:pt idx="7">
                  <c:v>5.8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1.2</c:v>
                </c:pt>
                <c:pt idx="1">
                  <c:v>1.5</c:v>
                </c:pt>
                <c:pt idx="2">
                  <c:v>1.8</c:v>
                </c:pt>
                <c:pt idx="3">
                  <c:v>2.1</c:v>
                </c:pt>
                <c:pt idx="4">
                  <c:v>2.5</c:v>
                </c:pt>
                <c:pt idx="5">
                  <c:v>2.8</c:v>
                </c:pt>
                <c:pt idx="6">
                  <c:v>1</c:v>
                </c:pt>
                <c:pt idx="7">
                  <c:v>2.2999999999999998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F6-4D86-B084-467D8137D3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B4C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Popularity Score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2A3B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5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B4C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Value Score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2A3B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(₹B)</c:v>
                </c:pt>
              </c:strCache>
            </c:strRef>
          </c:tx>
          <c:spPr>
            <a:solidFill>
              <a:srgbClr val="00C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Luxury</c:v>
                </c:pt>
                <c:pt idx="1">
                  <c:v>High-End</c:v>
                </c:pt>
                <c:pt idx="2">
                  <c:v>Premium</c:v>
                </c:pt>
                <c:pt idx="3">
                  <c:v>Mid-Range</c:v>
                </c:pt>
                <c:pt idx="4">
                  <c:v>Budget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28.3</c:v>
                </c:pt>
                <c:pt idx="1">
                  <c:v>6.79</c:v>
                </c:pt>
                <c:pt idx="2">
                  <c:v>5.08</c:v>
                </c:pt>
                <c:pt idx="3">
                  <c:v>4.16</c:v>
                </c:pt>
                <c:pt idx="4">
                  <c:v>0.67700000000000005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75-4AC3-B392-5503CFD734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B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B4C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00C6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Excellent</c:v>
                </c:pt>
                <c:pt idx="1">
                  <c:v>Good</c:v>
                </c:pt>
                <c:pt idx="2">
                  <c:v>Average</c:v>
                </c:pt>
                <c:pt idx="3">
                  <c:v>Poor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602</c:v>
                </c:pt>
                <c:pt idx="1">
                  <c:v>577</c:v>
                </c:pt>
                <c:pt idx="2">
                  <c:v>549</c:v>
                </c:pt>
                <c:pt idx="3">
                  <c:v>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83-4E15-8845-7E0C5DC0EE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3B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(₹B)</c:v>
                </c:pt>
              </c:strCache>
            </c:strRef>
          </c:tx>
          <c:spPr>
            <a:solidFill>
              <a:srgbClr val="C996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Luxury</c:v>
                </c:pt>
                <c:pt idx="1">
                  <c:v>High-End</c:v>
                </c:pt>
                <c:pt idx="2">
                  <c:v>Premium</c:v>
                </c:pt>
                <c:pt idx="3">
                  <c:v>Mid-Range</c:v>
                </c:pt>
                <c:pt idx="4">
                  <c:v>Budget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28.3</c:v>
                </c:pt>
                <c:pt idx="1">
                  <c:v>6.79</c:v>
                </c:pt>
                <c:pt idx="2">
                  <c:v>5.08</c:v>
                </c:pt>
                <c:pt idx="3">
                  <c:v>4.16</c:v>
                </c:pt>
                <c:pt idx="4">
                  <c:v>0.67700000000000005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0-46DE-9018-9F8B9024A4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A3B4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5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05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91440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7536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635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1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PORTFOLIO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1270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812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E-Commerce Product Intelligence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812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Enterprise-Grade Power BI Analytics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683000"/>
            <a:ext cx="2286000" cy="127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911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Rohan Barik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292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A8B5C8"/>
                </a:solidFill>
                <a:latin typeface="High Tower Text" panose="02040502050506030303" pitchFamily="18" charset="0"/>
                <a:ea typeface="Inter" pitchFamily="34" charset="-122"/>
                <a:cs typeface="Inter" pitchFamily="34" charset="-120"/>
              </a:rPr>
              <a:t>Data Analytics &amp; Mining | Team Lead: Subhankar Panda</a:t>
            </a:r>
            <a:endParaRPr lang="en-US" b="1" dirty="0">
              <a:latin typeface="High Tower Text" panose="0204050205050603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46482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A8B5C8"/>
                </a:solidFill>
                <a:latin typeface="High Tower Text" panose="02040502050506030303" pitchFamily="18" charset="0"/>
                <a:ea typeface="Inter" pitchFamily="34" charset="-122"/>
                <a:cs typeface="Inter" pitchFamily="34" charset="-120"/>
              </a:rPr>
              <a:t>Uptoskills</a:t>
            </a:r>
            <a:endParaRPr lang="en-US" sz="1600" dirty="0">
              <a:latin typeface="High Tower Text" panose="0204050205050603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50038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A8B5C8"/>
                </a:solidFill>
                <a:latin typeface="High Tower Text" panose="02040502050506030303" pitchFamily="18" charset="0"/>
                <a:ea typeface="Inter" pitchFamily="34" charset="-122"/>
                <a:cs typeface="Inter" pitchFamily="34" charset="-120"/>
              </a:rPr>
              <a:t>May</a:t>
            </a: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>
                <a:solidFill>
                  <a:srgbClr val="A8B5C8"/>
                </a:solidFill>
                <a:latin typeface="High Tower Text" panose="02040502050506030303" pitchFamily="18" charset="0"/>
                <a:ea typeface="Inter" pitchFamily="34" charset="-122"/>
                <a:cs typeface="Inter" pitchFamily="34" charset="-120"/>
              </a:rPr>
              <a:t>2026</a:t>
            </a:r>
            <a:endParaRPr lang="en-US" sz="1600" dirty="0">
              <a:latin typeface="High Tower Text" panose="0204050205050603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2000" y="8420100"/>
            <a:ext cx="812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Microsoft Power BI Desktop | Portfolio + Interview + LinkedIn Showcase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53600" y="0"/>
            <a:ext cx="6502400" cy="9144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9753600" y="0"/>
            <a:ext cx="6502400" cy="50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2293600" y="101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101600"/>
                </a:moveTo>
                <a:cubicBezTo>
                  <a:pt x="101600" y="73501"/>
                  <a:pt x="78899" y="50800"/>
                  <a:pt x="50800" y="50800"/>
                </a:cubicBezTo>
                <a:cubicBezTo>
                  <a:pt x="22701" y="50800"/>
                  <a:pt x="0" y="73501"/>
                  <a:pt x="0" y="101600"/>
                </a:cubicBezTo>
                <a:lnTo>
                  <a:pt x="0" y="635000"/>
                </a:lnTo>
                <a:cubicBezTo>
                  <a:pt x="0" y="705168"/>
                  <a:pt x="56832" y="762000"/>
                  <a:pt x="127000" y="762000"/>
                </a:cubicBezTo>
                <a:lnTo>
                  <a:pt x="762000" y="762000"/>
                </a:lnTo>
                <a:cubicBezTo>
                  <a:pt x="790099" y="762000"/>
                  <a:pt x="812800" y="739299"/>
                  <a:pt x="812800" y="711200"/>
                </a:cubicBezTo>
                <a:cubicBezTo>
                  <a:pt x="812800" y="683101"/>
                  <a:pt x="790099" y="660400"/>
                  <a:pt x="762000" y="660400"/>
                </a:cubicBezTo>
                <a:lnTo>
                  <a:pt x="127000" y="660400"/>
                </a:lnTo>
                <a:cubicBezTo>
                  <a:pt x="113030" y="660400"/>
                  <a:pt x="101600" y="648970"/>
                  <a:pt x="101600" y="635000"/>
                </a:cubicBezTo>
                <a:lnTo>
                  <a:pt x="101600" y="101600"/>
                </a:lnTo>
                <a:close/>
                <a:moveTo>
                  <a:pt x="747078" y="239078"/>
                </a:moveTo>
                <a:cubicBezTo>
                  <a:pt x="766921" y="219234"/>
                  <a:pt x="766921" y="187008"/>
                  <a:pt x="747078" y="167164"/>
                </a:cubicBezTo>
                <a:cubicBezTo>
                  <a:pt x="727234" y="147320"/>
                  <a:pt x="695008" y="147320"/>
                  <a:pt x="675164" y="167164"/>
                </a:cubicBezTo>
                <a:lnTo>
                  <a:pt x="508000" y="334486"/>
                </a:lnTo>
                <a:lnTo>
                  <a:pt x="416878" y="243523"/>
                </a:lnTo>
                <a:cubicBezTo>
                  <a:pt x="397034" y="223679"/>
                  <a:pt x="364808" y="223679"/>
                  <a:pt x="344964" y="243523"/>
                </a:cubicBezTo>
                <a:lnTo>
                  <a:pt x="192564" y="395923"/>
                </a:lnTo>
                <a:cubicBezTo>
                  <a:pt x="172720" y="415766"/>
                  <a:pt x="172720" y="447993"/>
                  <a:pt x="192564" y="467836"/>
                </a:cubicBezTo>
                <a:cubicBezTo>
                  <a:pt x="212408" y="487680"/>
                  <a:pt x="244634" y="487680"/>
                  <a:pt x="264478" y="467836"/>
                </a:cubicBezTo>
                <a:lnTo>
                  <a:pt x="381000" y="351314"/>
                </a:lnTo>
                <a:lnTo>
                  <a:pt x="472123" y="442436"/>
                </a:lnTo>
                <a:cubicBezTo>
                  <a:pt x="491966" y="462280"/>
                  <a:pt x="524193" y="462280"/>
                  <a:pt x="544036" y="442436"/>
                </a:cubicBezTo>
                <a:lnTo>
                  <a:pt x="747236" y="239236"/>
                </a:lnTo>
                <a:close/>
              </a:path>
            </a:pathLst>
          </a:custGeom>
          <a:solidFill>
            <a:srgbClr val="00C6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0" y="254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₹45.1B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0" y="3175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Potential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0" y="254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2,000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335000" y="3175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0" y="3683000"/>
            <a:ext cx="5588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0" y="3937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0" y="4572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Rating / 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335000" y="3937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38.57%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335000" y="457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Discount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0" y="5334000"/>
            <a:ext cx="5588000" cy="1016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0000" y="5334000"/>
            <a:ext cx="5588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312400" y="5435600"/>
            <a:ext cx="5283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KPIs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Visuals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Table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Slicers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Single-page executive dashboard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970000" y="8509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794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r>
              <a:rPr lang="en-US" sz="16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14732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127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1714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critical e-commerce analytics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222500"/>
            <a:ext cx="7620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4384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2438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&amp;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2000" y="28829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 products, 25 fields, end-to-end pipeline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390900"/>
            <a:ext cx="7620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6068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36068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&amp; KPIs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2000" y="40513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strategic KPIs, 8 visuals, 5 slicers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559300"/>
            <a:ext cx="7620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7752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32000" y="47752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Insights &amp;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32000" y="52197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actionable insights with business recommendations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727700"/>
            <a:ext cx="7620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943600"/>
            <a:ext cx="1143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32000" y="5943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32000" y="63881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Challenges, tools, and future roadmap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0" y="1270000"/>
            <a:ext cx="6350000" cy="571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6" name="Text 24"/>
          <p:cNvSpPr/>
          <p:nvPr/>
        </p:nvSpPr>
        <p:spPr>
          <a:xfrm>
            <a:off x="9448800" y="15240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448800" y="1955800"/>
            <a:ext cx="2540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8" name="Text 26"/>
          <p:cNvSpPr/>
          <p:nvPr/>
        </p:nvSpPr>
        <p:spPr>
          <a:xfrm>
            <a:off x="9448800" y="2184400"/>
            <a:ext cx="584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enterprise Power BI dashboard for product analytics across pricing, inventory, and revenue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 e-commerce products across 4 categories with 25 data fields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Single-page executive dashboard with 5 KPIs, 8 visuals, 1 table, 5 slicers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data-driven decisions on pricing, inventory, and revenue strategy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7112000"/>
            <a:ext cx="2540000" cy="76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7112000"/>
            <a:ext cx="2540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71882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Excel Data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29000" y="7429500"/>
            <a:ext cx="508000" cy="0"/>
          </a:xfrm>
          <a:prstGeom prst="straightConnector1">
            <a:avLst/>
          </a:prstGeom>
          <a:noFill/>
          <a:ln w="25400">
            <a:solidFill>
              <a:srgbClr val="C9963B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064000" y="7112000"/>
            <a:ext cx="2540000" cy="76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4000" y="7112000"/>
            <a:ext cx="2540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5" name="Text 33"/>
          <p:cNvSpPr/>
          <p:nvPr/>
        </p:nvSpPr>
        <p:spPr>
          <a:xfrm>
            <a:off x="4064000" y="71882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31000" y="7429500"/>
            <a:ext cx="508000" cy="0"/>
          </a:xfrm>
          <a:prstGeom prst="straightConnector1">
            <a:avLst/>
          </a:prstGeom>
          <a:noFill/>
          <a:ln w="25400">
            <a:solidFill>
              <a:srgbClr val="C9963B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7366000" y="7112000"/>
            <a:ext cx="2540000" cy="76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8" name="Shape 36"/>
          <p:cNvSpPr/>
          <p:nvPr/>
        </p:nvSpPr>
        <p:spPr>
          <a:xfrm>
            <a:off x="7366000" y="7112000"/>
            <a:ext cx="2540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9" name="Text 37"/>
          <p:cNvSpPr/>
          <p:nvPr/>
        </p:nvSpPr>
        <p:spPr>
          <a:xfrm>
            <a:off x="7366000" y="7188200"/>
            <a:ext cx="254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8331200"/>
            <a:ext cx="14732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41" name="Text 39"/>
          <p:cNvSpPr/>
          <p:nvPr/>
        </p:nvSpPr>
        <p:spPr>
          <a:xfrm>
            <a:off x="14478000" y="84328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" name="Text 1"/>
          <p:cNvSpPr/>
          <p:nvPr/>
        </p:nvSpPr>
        <p:spPr>
          <a:xfrm>
            <a:off x="10414000" y="2794000"/>
            <a:ext cx="558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FFFFF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2540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3048000"/>
            <a:ext cx="1524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302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4318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Critical Challenges Every E-Commerce Business Faces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5080000"/>
            <a:ext cx="3302000" cy="1524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5080000"/>
            <a:ext cx="3302000" cy="381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5283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408" y="-14823"/>
                </a:moveTo>
                <a:cubicBezTo>
                  <a:pt x="18812" y="-20419"/>
                  <a:pt x="9763" y="-20419"/>
                  <a:pt x="4227" y="-14823"/>
                </a:cubicBezTo>
                <a:cubicBezTo>
                  <a:pt x="-1310" y="-9227"/>
                  <a:pt x="-1369" y="-179"/>
                  <a:pt x="4167" y="5417"/>
                </a:cubicBezTo>
                <a:lnTo>
                  <a:pt x="318492" y="319742"/>
                </a:lnTo>
                <a:cubicBezTo>
                  <a:pt x="324088" y="325338"/>
                  <a:pt x="333137" y="325338"/>
                  <a:pt x="338673" y="319742"/>
                </a:cubicBezTo>
                <a:cubicBezTo>
                  <a:pt x="344210" y="314146"/>
                  <a:pt x="344269" y="305098"/>
                  <a:pt x="338673" y="299561"/>
                </a:cubicBezTo>
                <a:lnTo>
                  <a:pt x="281285" y="242173"/>
                </a:lnTo>
                <a:cubicBezTo>
                  <a:pt x="282892" y="240744"/>
                  <a:pt x="284500" y="239316"/>
                  <a:pt x="286048" y="237887"/>
                </a:cubicBezTo>
                <a:cubicBezTo>
                  <a:pt x="313908" y="211991"/>
                  <a:pt x="332542" y="181094"/>
                  <a:pt x="341412" y="159841"/>
                </a:cubicBezTo>
                <a:cubicBezTo>
                  <a:pt x="343376" y="155138"/>
                  <a:pt x="343376" y="149900"/>
                  <a:pt x="341412" y="145197"/>
                </a:cubicBezTo>
                <a:cubicBezTo>
                  <a:pt x="332542" y="123944"/>
                  <a:pt x="313908" y="92988"/>
                  <a:pt x="286048" y="67151"/>
                </a:cubicBezTo>
                <a:cubicBezTo>
                  <a:pt x="258008" y="41136"/>
                  <a:pt x="219492" y="19169"/>
                  <a:pt x="171390" y="19169"/>
                </a:cubicBezTo>
                <a:cubicBezTo>
                  <a:pt x="137577" y="19169"/>
                  <a:pt x="108525" y="30004"/>
                  <a:pt x="84475" y="45482"/>
                </a:cubicBezTo>
                <a:lnTo>
                  <a:pt x="24408" y="-14823"/>
                </a:lnTo>
                <a:close/>
                <a:moveTo>
                  <a:pt x="121741" y="82570"/>
                </a:moveTo>
                <a:cubicBezTo>
                  <a:pt x="135731" y="72569"/>
                  <a:pt x="152936" y="66675"/>
                  <a:pt x="171450" y="66675"/>
                </a:cubicBezTo>
                <a:cubicBezTo>
                  <a:pt x="218777" y="66675"/>
                  <a:pt x="257175" y="105073"/>
                  <a:pt x="257175" y="152400"/>
                </a:cubicBezTo>
                <a:cubicBezTo>
                  <a:pt x="257175" y="170914"/>
                  <a:pt x="251281" y="188059"/>
                  <a:pt x="241280" y="202109"/>
                </a:cubicBezTo>
                <a:lnTo>
                  <a:pt x="220623" y="181451"/>
                </a:lnTo>
                <a:cubicBezTo>
                  <a:pt x="228183" y="168712"/>
                  <a:pt x="230743" y="153055"/>
                  <a:pt x="226635" y="137577"/>
                </a:cubicBezTo>
                <a:cubicBezTo>
                  <a:pt x="218480" y="107097"/>
                  <a:pt x="187107" y="88999"/>
                  <a:pt x="156627" y="97155"/>
                </a:cubicBezTo>
                <a:cubicBezTo>
                  <a:pt x="151507" y="98524"/>
                  <a:pt x="146685" y="100548"/>
                  <a:pt x="142339" y="103108"/>
                </a:cubicBezTo>
                <a:lnTo>
                  <a:pt x="121682" y="82451"/>
                </a:lnTo>
                <a:close/>
                <a:moveTo>
                  <a:pt x="193655" y="235208"/>
                </a:moveTo>
                <a:cubicBezTo>
                  <a:pt x="186571" y="237113"/>
                  <a:pt x="179130" y="238125"/>
                  <a:pt x="171450" y="238125"/>
                </a:cubicBezTo>
                <a:cubicBezTo>
                  <a:pt x="124123" y="238125"/>
                  <a:pt x="85725" y="199727"/>
                  <a:pt x="85725" y="152400"/>
                </a:cubicBezTo>
                <a:cubicBezTo>
                  <a:pt x="85725" y="144720"/>
                  <a:pt x="86737" y="137279"/>
                  <a:pt x="88642" y="130195"/>
                </a:cubicBezTo>
                <a:lnTo>
                  <a:pt x="41315" y="82867"/>
                </a:lnTo>
                <a:cubicBezTo>
                  <a:pt x="21908" y="104775"/>
                  <a:pt x="8573" y="127992"/>
                  <a:pt x="1488" y="145078"/>
                </a:cubicBezTo>
                <a:cubicBezTo>
                  <a:pt x="-476" y="149781"/>
                  <a:pt x="-476" y="155019"/>
                  <a:pt x="1488" y="159722"/>
                </a:cubicBezTo>
                <a:cubicBezTo>
                  <a:pt x="10358" y="180975"/>
                  <a:pt x="28992" y="211931"/>
                  <a:pt x="56852" y="237768"/>
                </a:cubicBezTo>
                <a:cubicBezTo>
                  <a:pt x="84892" y="263783"/>
                  <a:pt x="123408" y="285750"/>
                  <a:pt x="171510" y="285750"/>
                </a:cubicBezTo>
                <a:cubicBezTo>
                  <a:pt x="193715" y="285750"/>
                  <a:pt x="213896" y="281047"/>
                  <a:pt x="231934" y="273487"/>
                </a:cubicBezTo>
                <a:lnTo>
                  <a:pt x="193715" y="235268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5638800"/>
            <a:ext cx="2895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Blind Spots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9200" y="5943600"/>
            <a:ext cx="289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categories and brands truly drive revenue?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5080000"/>
            <a:ext cx="3302000" cy="1524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5080000"/>
            <a:ext cx="3302000" cy="381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7100" y="5283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33554" y="141208"/>
                </a:moveTo>
                <a:cubicBezTo>
                  <a:pt x="339745" y="148233"/>
                  <a:pt x="350401" y="149781"/>
                  <a:pt x="358438" y="144482"/>
                </a:cubicBezTo>
                <a:cubicBezTo>
                  <a:pt x="367189" y="138648"/>
                  <a:pt x="369570" y="126802"/>
                  <a:pt x="363736" y="118050"/>
                </a:cubicBezTo>
                <a:lnTo>
                  <a:pt x="335161" y="75188"/>
                </a:lnTo>
                <a:cubicBezTo>
                  <a:pt x="333494" y="72688"/>
                  <a:pt x="331232" y="70604"/>
                  <a:pt x="328553" y="69116"/>
                </a:cubicBezTo>
                <a:lnTo>
                  <a:pt x="209193" y="2798"/>
                </a:lnTo>
                <a:cubicBezTo>
                  <a:pt x="197703" y="-3572"/>
                  <a:pt x="183713" y="-3572"/>
                  <a:pt x="172164" y="2798"/>
                </a:cubicBezTo>
                <a:lnTo>
                  <a:pt x="52864" y="69056"/>
                </a:lnTo>
                <a:cubicBezTo>
                  <a:pt x="49649" y="70842"/>
                  <a:pt x="47089" y="73462"/>
                  <a:pt x="45363" y="76676"/>
                </a:cubicBezTo>
                <a:lnTo>
                  <a:pt x="16490" y="130195"/>
                </a:lnTo>
                <a:cubicBezTo>
                  <a:pt x="8989" y="144125"/>
                  <a:pt x="14228" y="161449"/>
                  <a:pt x="28158" y="168950"/>
                </a:cubicBezTo>
                <a:lnTo>
                  <a:pt x="47804" y="179487"/>
                </a:lnTo>
                <a:lnTo>
                  <a:pt x="47804" y="211217"/>
                </a:lnTo>
                <a:cubicBezTo>
                  <a:pt x="47804" y="224909"/>
                  <a:pt x="55185" y="237589"/>
                  <a:pt x="67092" y="244376"/>
                </a:cubicBezTo>
                <a:lnTo>
                  <a:pt x="171867" y="303728"/>
                </a:lnTo>
                <a:cubicBezTo>
                  <a:pt x="183535" y="310336"/>
                  <a:pt x="197763" y="310336"/>
                  <a:pt x="209431" y="303728"/>
                </a:cubicBezTo>
                <a:lnTo>
                  <a:pt x="314206" y="244376"/>
                </a:lnTo>
                <a:cubicBezTo>
                  <a:pt x="326172" y="237589"/>
                  <a:pt x="333494" y="224969"/>
                  <a:pt x="333494" y="211217"/>
                </a:cubicBezTo>
                <a:lnTo>
                  <a:pt x="333494" y="141268"/>
                </a:lnTo>
                <a:close/>
                <a:moveTo>
                  <a:pt x="190679" y="135374"/>
                </a:moveTo>
                <a:lnTo>
                  <a:pt x="101322" y="85725"/>
                </a:lnTo>
                <a:lnTo>
                  <a:pt x="190679" y="36076"/>
                </a:lnTo>
                <a:lnTo>
                  <a:pt x="280035" y="85725"/>
                </a:lnTo>
                <a:lnTo>
                  <a:pt x="190679" y="135374"/>
                </a:lnTo>
                <a:close/>
                <a:moveTo>
                  <a:pt x="165973" y="165259"/>
                </a:moveTo>
                <a:lnTo>
                  <a:pt x="153293" y="192762"/>
                </a:lnTo>
                <a:lnTo>
                  <a:pt x="54590" y="139898"/>
                </a:lnTo>
                <a:lnTo>
                  <a:pt x="69711" y="111800"/>
                </a:lnTo>
                <a:lnTo>
                  <a:pt x="165973" y="165259"/>
                </a:lnTo>
                <a:close/>
              </a:path>
            </a:pathLst>
          </a:custGeom>
          <a:solidFill>
            <a:srgbClr val="FFD6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75200" y="5638800"/>
            <a:ext cx="2895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Leakage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75200" y="5943600"/>
            <a:ext cx="289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lost due to out-of-stock products?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5080000"/>
            <a:ext cx="3302000" cy="1524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8000" y="5080000"/>
            <a:ext cx="3302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2150" y="5283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38839" y="23277"/>
                </a:moveTo>
                <a:lnTo>
                  <a:pt x="327065" y="112752"/>
                </a:lnTo>
                <a:cubicBezTo>
                  <a:pt x="343555" y="129480"/>
                  <a:pt x="343555" y="156270"/>
                  <a:pt x="327065" y="172998"/>
                </a:cubicBezTo>
                <a:lnTo>
                  <a:pt x="233958" y="267236"/>
                </a:lnTo>
                <a:cubicBezTo>
                  <a:pt x="228421" y="272832"/>
                  <a:pt x="219373" y="272891"/>
                  <a:pt x="213777" y="267355"/>
                </a:cubicBezTo>
                <a:cubicBezTo>
                  <a:pt x="208181" y="261818"/>
                  <a:pt x="208121" y="252770"/>
                  <a:pt x="213658" y="247174"/>
                </a:cubicBezTo>
                <a:lnTo>
                  <a:pt x="306765" y="152876"/>
                </a:lnTo>
                <a:cubicBezTo>
                  <a:pt x="312241" y="147340"/>
                  <a:pt x="312241" y="138351"/>
                  <a:pt x="306765" y="132814"/>
                </a:cubicBezTo>
                <a:lnTo>
                  <a:pt x="218480" y="43398"/>
                </a:lnTo>
                <a:cubicBezTo>
                  <a:pt x="212943" y="37802"/>
                  <a:pt x="213003" y="28754"/>
                  <a:pt x="218599" y="23217"/>
                </a:cubicBezTo>
                <a:cubicBezTo>
                  <a:pt x="224195" y="17681"/>
                  <a:pt x="233243" y="17740"/>
                  <a:pt x="238780" y="23336"/>
                </a:cubicBezTo>
                <a:close/>
                <a:moveTo>
                  <a:pt x="19110" y="136624"/>
                </a:moveTo>
                <a:lnTo>
                  <a:pt x="19110" y="57150"/>
                </a:lnTo>
                <a:cubicBezTo>
                  <a:pt x="19110" y="36135"/>
                  <a:pt x="36195" y="19050"/>
                  <a:pt x="57210" y="19050"/>
                </a:cubicBezTo>
                <a:lnTo>
                  <a:pt x="136684" y="19050"/>
                </a:lnTo>
                <a:cubicBezTo>
                  <a:pt x="146804" y="19050"/>
                  <a:pt x="156508" y="23039"/>
                  <a:pt x="163651" y="30182"/>
                </a:cubicBezTo>
                <a:lnTo>
                  <a:pt x="249376" y="115907"/>
                </a:lnTo>
                <a:cubicBezTo>
                  <a:pt x="264259" y="130790"/>
                  <a:pt x="264259" y="154900"/>
                  <a:pt x="249376" y="169783"/>
                </a:cubicBezTo>
                <a:lnTo>
                  <a:pt x="169902" y="249257"/>
                </a:lnTo>
                <a:cubicBezTo>
                  <a:pt x="155019" y="264140"/>
                  <a:pt x="130909" y="264140"/>
                  <a:pt x="116026" y="249257"/>
                </a:cubicBezTo>
                <a:lnTo>
                  <a:pt x="30301" y="163532"/>
                </a:lnTo>
                <a:cubicBezTo>
                  <a:pt x="23158" y="156389"/>
                  <a:pt x="19169" y="146685"/>
                  <a:pt x="19169" y="136565"/>
                </a:cubicBezTo>
                <a:close/>
                <a:moveTo>
                  <a:pt x="104835" y="85725"/>
                </a:moveTo>
                <a:cubicBezTo>
                  <a:pt x="104835" y="75211"/>
                  <a:pt x="96299" y="66675"/>
                  <a:pt x="85785" y="66675"/>
                </a:cubicBezTo>
                <a:cubicBezTo>
                  <a:pt x="75271" y="66675"/>
                  <a:pt x="66735" y="75211"/>
                  <a:pt x="66735" y="85725"/>
                </a:cubicBezTo>
                <a:cubicBezTo>
                  <a:pt x="66735" y="96239"/>
                  <a:pt x="75271" y="104775"/>
                  <a:pt x="85785" y="104775"/>
                </a:cubicBezTo>
                <a:cubicBezTo>
                  <a:pt x="96299" y="104775"/>
                  <a:pt x="104835" y="96239"/>
                  <a:pt x="104835" y="85725"/>
                </a:cubicBezTo>
                <a:close/>
              </a:path>
            </a:pathLst>
          </a:custGeom>
          <a:solidFill>
            <a:srgbClr val="00C6FF"/>
          </a:solidFill>
          <a:ln/>
        </p:spPr>
      </p:sp>
      <p:sp>
        <p:nvSpPr>
          <p:cNvPr id="21" name="Text 19"/>
          <p:cNvSpPr/>
          <p:nvPr/>
        </p:nvSpPr>
        <p:spPr>
          <a:xfrm>
            <a:off x="8331200" y="5638800"/>
            <a:ext cx="2895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Inefficiency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1200" y="5943600"/>
            <a:ext cx="289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heavy discounting drive popularity?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684000" y="5080000"/>
            <a:ext cx="3302000" cy="1524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84000" y="5080000"/>
            <a:ext cx="3302000" cy="381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68150" y="5283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510" y="210503"/>
                </a:moveTo>
                <a:cubicBezTo>
                  <a:pt x="177463" y="210503"/>
                  <a:pt x="183356" y="211872"/>
                  <a:pt x="188774" y="214670"/>
                </a:cubicBezTo>
                <a:lnTo>
                  <a:pt x="233065" y="237232"/>
                </a:lnTo>
                <a:lnTo>
                  <a:pt x="225326" y="188119"/>
                </a:lnTo>
                <a:cubicBezTo>
                  <a:pt x="223421" y="176093"/>
                  <a:pt x="227409" y="163890"/>
                  <a:pt x="235982" y="155258"/>
                </a:cubicBezTo>
                <a:lnTo>
                  <a:pt x="271105" y="120075"/>
                </a:lnTo>
                <a:lnTo>
                  <a:pt x="221992" y="112276"/>
                </a:lnTo>
                <a:cubicBezTo>
                  <a:pt x="209967" y="110371"/>
                  <a:pt x="199549" y="102810"/>
                  <a:pt x="194012" y="91976"/>
                </a:cubicBezTo>
                <a:lnTo>
                  <a:pt x="171390" y="47685"/>
                </a:lnTo>
                <a:lnTo>
                  <a:pt x="171390" y="210562"/>
                </a:lnTo>
                <a:close/>
                <a:moveTo>
                  <a:pt x="272296" y="291108"/>
                </a:moveTo>
                <a:cubicBezTo>
                  <a:pt x="267950" y="294263"/>
                  <a:pt x="262176" y="294739"/>
                  <a:pt x="257413" y="292298"/>
                </a:cubicBezTo>
                <a:lnTo>
                  <a:pt x="171510" y="248603"/>
                </a:lnTo>
                <a:lnTo>
                  <a:pt x="85606" y="292298"/>
                </a:lnTo>
                <a:cubicBezTo>
                  <a:pt x="80843" y="294739"/>
                  <a:pt x="75069" y="294263"/>
                  <a:pt x="70723" y="291108"/>
                </a:cubicBezTo>
                <a:cubicBezTo>
                  <a:pt x="66377" y="287953"/>
                  <a:pt x="64175" y="282654"/>
                  <a:pt x="65008" y="277297"/>
                </a:cubicBezTo>
                <a:lnTo>
                  <a:pt x="80010" y="182106"/>
                </a:lnTo>
                <a:lnTo>
                  <a:pt x="11906" y="113943"/>
                </a:lnTo>
                <a:cubicBezTo>
                  <a:pt x="8096" y="110133"/>
                  <a:pt x="6787" y="104537"/>
                  <a:pt x="8453" y="99417"/>
                </a:cubicBezTo>
                <a:cubicBezTo>
                  <a:pt x="10120" y="94298"/>
                  <a:pt x="14466" y="90547"/>
                  <a:pt x="19824" y="89714"/>
                </a:cubicBezTo>
                <a:lnTo>
                  <a:pt x="115014" y="74593"/>
                </a:lnTo>
                <a:lnTo>
                  <a:pt x="158829" y="-11251"/>
                </a:lnTo>
                <a:cubicBezTo>
                  <a:pt x="161270" y="-16014"/>
                  <a:pt x="166211" y="-19050"/>
                  <a:pt x="171569" y="-19050"/>
                </a:cubicBezTo>
                <a:cubicBezTo>
                  <a:pt x="176927" y="-19050"/>
                  <a:pt x="181868" y="-16014"/>
                  <a:pt x="184309" y="-11251"/>
                </a:cubicBezTo>
                <a:lnTo>
                  <a:pt x="228005" y="74593"/>
                </a:lnTo>
                <a:lnTo>
                  <a:pt x="323195" y="89714"/>
                </a:lnTo>
                <a:cubicBezTo>
                  <a:pt x="328493" y="90547"/>
                  <a:pt x="332899" y="94298"/>
                  <a:pt x="334566" y="99417"/>
                </a:cubicBezTo>
                <a:cubicBezTo>
                  <a:pt x="336233" y="104537"/>
                  <a:pt x="334863" y="110133"/>
                  <a:pt x="331113" y="113943"/>
                </a:cubicBezTo>
                <a:lnTo>
                  <a:pt x="262950" y="182106"/>
                </a:lnTo>
                <a:lnTo>
                  <a:pt x="278011" y="277297"/>
                </a:lnTo>
                <a:cubicBezTo>
                  <a:pt x="278844" y="282595"/>
                  <a:pt x="276642" y="287953"/>
                  <a:pt x="272296" y="29110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0" y="5638800"/>
            <a:ext cx="2895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Risk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0" y="5943600"/>
            <a:ext cx="289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High-revenue products with poor ratings?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69850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unified analytics view — business decisions remain reactive, not strategic.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0" y="9080500"/>
            <a:ext cx="16256000" cy="63500"/>
          </a:xfrm>
          <a:prstGeom prst="rect">
            <a:avLst/>
          </a:prstGeom>
          <a:solidFill>
            <a:srgbClr val="C9963B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at a Glance — 2000 products across 25 fields powering executive decision-making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016000"/>
            <a:ext cx="2794000" cy="1143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016000"/>
            <a:ext cx="2794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1117600"/>
            <a:ext cx="259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600" y="1651000"/>
            <a:ext cx="259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83000" y="1016000"/>
            <a:ext cx="2794000" cy="1143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Shape 9"/>
          <p:cNvSpPr/>
          <p:nvPr/>
        </p:nvSpPr>
        <p:spPr>
          <a:xfrm>
            <a:off x="3683000" y="1016000"/>
            <a:ext cx="2794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2" name="Text 10"/>
          <p:cNvSpPr/>
          <p:nvPr/>
        </p:nvSpPr>
        <p:spPr>
          <a:xfrm>
            <a:off x="3784600" y="1117600"/>
            <a:ext cx="259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4600" y="1651000"/>
            <a:ext cx="259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31000" y="1016000"/>
            <a:ext cx="2794000" cy="1143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731000" y="1016000"/>
            <a:ext cx="2794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32600" y="1117600"/>
            <a:ext cx="259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2600" y="1651000"/>
            <a:ext cx="259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79000" y="1016000"/>
            <a:ext cx="2794000" cy="1143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9779000" y="1016000"/>
            <a:ext cx="2794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0" name="Text 18"/>
          <p:cNvSpPr/>
          <p:nvPr/>
        </p:nvSpPr>
        <p:spPr>
          <a:xfrm>
            <a:off x="9880600" y="1117600"/>
            <a:ext cx="259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80600" y="1651000"/>
            <a:ext cx="259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27000" y="1016000"/>
            <a:ext cx="2794000" cy="1143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27000" y="1016000"/>
            <a:ext cx="2794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4" name="Text 22"/>
          <p:cNvSpPr/>
          <p:nvPr/>
        </p:nvSpPr>
        <p:spPr>
          <a:xfrm>
            <a:off x="12928600" y="1117600"/>
            <a:ext cx="259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928600" y="1651000"/>
            <a:ext cx="259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Segments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000" y="2413000"/>
            <a:ext cx="14986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000" y="2413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8" name="Text 26"/>
          <p:cNvSpPr/>
          <p:nvPr/>
        </p:nvSpPr>
        <p:spPr>
          <a:xfrm>
            <a:off x="736600" y="24130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 Structure by Category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2768600"/>
          <a:ext cx="14986000" cy="3556001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Columns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Info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product_id, product_name, brand, category, subcategory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C99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price, discount_percent, discounted_price, discount_amount, savings_percentage_verified, price_segment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rating, rating_category, reviews_count, review_volume_tier, popularity_score, value_score, revenue_potential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C99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Inventory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stock_status, stock_flag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121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date, year_added, month_added, month_name, quarter_added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35000" y="6553200"/>
            <a:ext cx="14986000" cy="1524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1" name="Shape 28"/>
          <p:cNvSpPr/>
          <p:nvPr/>
        </p:nvSpPr>
        <p:spPr>
          <a:xfrm>
            <a:off x="635000" y="6553200"/>
            <a:ext cx="38100" cy="1524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2" name="Text 29"/>
          <p:cNvSpPr/>
          <p:nvPr/>
        </p:nvSpPr>
        <p:spPr>
          <a:xfrm>
            <a:off x="863600" y="6629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Categories &amp; Brands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63600" y="6985000"/>
            <a:ext cx="1454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Electronics, Footwear, Accessories, Fashion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OnePlus, Samsung, Apple, Dell, Sony, Zara, Levi's, Puma, Nike, Adidas, H&amp;M, Fossil, RayBan, Reebok, Boat, Wildcraft, HP, American Tourister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Segments: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Budget, Mid-Range, Premium, High-End, Luxury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35" name="Text 32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E-Commerce Products Dataset (Excel)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 &amp; Preprocessing — 6-step pipeline from raw Excel to clean data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1206500" y="1117600"/>
            <a:ext cx="508000" cy="5080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7" name="Text 5"/>
          <p:cNvSpPr/>
          <p:nvPr/>
        </p:nvSpPr>
        <p:spPr>
          <a:xfrm>
            <a:off x="1206500" y="1117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41500" y="1358900"/>
            <a:ext cx="825500" cy="0"/>
          </a:xfrm>
          <a:prstGeom prst="straightConnector1">
            <a:avLst/>
          </a:prstGeom>
          <a:noFill/>
          <a:ln w="25400">
            <a:solidFill>
              <a:srgbClr val="2A3B4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794000" y="1117600"/>
            <a:ext cx="508000" cy="5080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0" name="Text 8"/>
          <p:cNvSpPr/>
          <p:nvPr/>
        </p:nvSpPr>
        <p:spPr>
          <a:xfrm>
            <a:off x="2794000" y="1117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1358900"/>
            <a:ext cx="825500" cy="0"/>
          </a:xfrm>
          <a:prstGeom prst="straightConnector1">
            <a:avLst/>
          </a:prstGeom>
          <a:noFill/>
          <a:ln w="25400">
            <a:solidFill>
              <a:srgbClr val="2A3B4C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381500" y="1117600"/>
            <a:ext cx="508000" cy="508000"/>
          </a:xfrm>
          <a:prstGeom prst="ellipse">
            <a:avLst/>
          </a:prstGeom>
          <a:solidFill>
            <a:srgbClr val="C9963B"/>
          </a:solidFill>
          <a:ln/>
        </p:spPr>
      </p:sp>
      <p:sp>
        <p:nvSpPr>
          <p:cNvPr id="13" name="Text 11"/>
          <p:cNvSpPr/>
          <p:nvPr/>
        </p:nvSpPr>
        <p:spPr>
          <a:xfrm>
            <a:off x="4381500" y="1117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16500" y="1358900"/>
            <a:ext cx="825500" cy="0"/>
          </a:xfrm>
          <a:prstGeom prst="straightConnector1">
            <a:avLst/>
          </a:prstGeom>
          <a:noFill/>
          <a:ln w="25400">
            <a:solidFill>
              <a:srgbClr val="2A3B4C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969000" y="1117600"/>
            <a:ext cx="508000" cy="5080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1117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04000" y="1358900"/>
            <a:ext cx="825500" cy="0"/>
          </a:xfrm>
          <a:prstGeom prst="straightConnector1">
            <a:avLst/>
          </a:prstGeom>
          <a:noFill/>
          <a:ln w="25400">
            <a:solidFill>
              <a:srgbClr val="2A3B4C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556500" y="1117600"/>
            <a:ext cx="508000" cy="5080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19" name="Text 17"/>
          <p:cNvSpPr/>
          <p:nvPr/>
        </p:nvSpPr>
        <p:spPr>
          <a:xfrm>
            <a:off x="7556500" y="1117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91500" y="1358900"/>
            <a:ext cx="825500" cy="0"/>
          </a:xfrm>
          <a:prstGeom prst="straightConnector1">
            <a:avLst/>
          </a:prstGeom>
          <a:noFill/>
          <a:ln w="25400">
            <a:solidFill>
              <a:srgbClr val="2A3B4C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144000" y="1117600"/>
            <a:ext cx="508000" cy="50800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11176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" y="1803400"/>
            <a:ext cx="2349500" cy="266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000" y="1803400"/>
            <a:ext cx="23495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6600" y="1905000"/>
            <a:ext cx="2146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Excel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600" y="2438400"/>
            <a:ext cx="21463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dataset into Power BI via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Data &gt; Excel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2000 rows, 25 columns imported successfully.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11500" y="1803400"/>
            <a:ext cx="2349500" cy="266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8" name="Shape 26"/>
          <p:cNvSpPr/>
          <p:nvPr/>
        </p:nvSpPr>
        <p:spPr>
          <a:xfrm>
            <a:off x="3111500" y="1803400"/>
            <a:ext cx="23495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13100" y="1905000"/>
            <a:ext cx="2146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Data Types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13100" y="2438400"/>
            <a:ext cx="21463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Query: price → Decimal, date → Date, year/month/quarter → Whole Number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88000" y="1803400"/>
            <a:ext cx="2349500" cy="266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Shape 30"/>
          <p:cNvSpPr/>
          <p:nvPr/>
        </p:nvSpPr>
        <p:spPr>
          <a:xfrm>
            <a:off x="5588000" y="1803400"/>
            <a:ext cx="23495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3" name="Text 31"/>
          <p:cNvSpPr/>
          <p:nvPr/>
        </p:nvSpPr>
        <p:spPr>
          <a:xfrm>
            <a:off x="5689600" y="1905000"/>
            <a:ext cx="2146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Columns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89600" y="2438400"/>
            <a:ext cx="21463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discounted_price = price - discount_amount. Confirmed savings% matches discount_percent.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64500" y="1803400"/>
            <a:ext cx="2349500" cy="266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6" name="Shape 34"/>
          <p:cNvSpPr/>
          <p:nvPr/>
        </p:nvSpPr>
        <p:spPr>
          <a:xfrm>
            <a:off x="8064500" y="1803400"/>
            <a:ext cx="23495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7" name="Text 35"/>
          <p:cNvSpPr/>
          <p:nvPr/>
        </p:nvSpPr>
        <p:spPr>
          <a:xfrm>
            <a:off x="8166100" y="1905000"/>
            <a:ext cx="2146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Nulls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66100" y="2438400"/>
            <a:ext cx="21463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for null values across all 25 columns.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critical nulls found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dataset is complete.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541000" y="1803400"/>
            <a:ext cx="2349500" cy="266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41000" y="1803400"/>
            <a:ext cx="23495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642600" y="1905000"/>
            <a:ext cx="2146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DAX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642600" y="2438400"/>
            <a:ext cx="21463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5 DAX Measures: Total Revenue, Avg Rating, Avg Discount, Avg Value Score, In Stock Count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3017500" y="1803400"/>
            <a:ext cx="2603500" cy="266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4" name="Shape 42"/>
          <p:cNvSpPr/>
          <p:nvPr/>
        </p:nvSpPr>
        <p:spPr>
          <a:xfrm>
            <a:off x="13017500" y="1803400"/>
            <a:ext cx="26035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5" name="Text 43"/>
          <p:cNvSpPr/>
          <p:nvPr/>
        </p:nvSpPr>
        <p:spPr>
          <a:xfrm>
            <a:off x="13119100" y="1905000"/>
            <a:ext cx="2400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&amp; Apply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119100" y="2438400"/>
            <a:ext cx="24003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Close &amp; Apply to load clean, validated data into the Power BI data model.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000" y="4699000"/>
            <a:ext cx="14986000" cy="2286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8" name="Shape 46"/>
          <p:cNvSpPr/>
          <p:nvPr/>
        </p:nvSpPr>
        <p:spPr>
          <a:xfrm>
            <a:off x="635000" y="4699000"/>
            <a:ext cx="38100" cy="2286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49" name="Text 47"/>
          <p:cNvSpPr/>
          <p:nvPr/>
        </p:nvSpPr>
        <p:spPr>
          <a:xfrm>
            <a:off x="863600" y="4800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DAX Measures Created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3600" y="5156200"/>
            <a:ext cx="1454150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 Potential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SUM(revenue_potential)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Rating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AVERAGE(rating)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Discount %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AVERAGE(discount_percent)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Value Score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AVERAGE(value_score)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Stock Count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CALCULATE(COUNT(product_id), stock_status = "In Stock")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000" y="7188200"/>
            <a:ext cx="14986000" cy="889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52" name="Text 50"/>
          <p:cNvSpPr/>
          <p:nvPr/>
        </p:nvSpPr>
        <p:spPr>
          <a:xfrm>
            <a:off x="889000" y="71882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Result: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Zero critical nulls | All data types validated | 5 DAX measures created | Clean data loaded to model. Clean data is the foundation — no insight is trustworthy without it.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54" name="Text 52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Tools: Power BI Desktop, Power Query Editor, DAX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Architecture — Single-page executive layout with 5 KPIs, 8 visuals, 1 table, 5 slicers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Text 4"/>
          <p:cNvSpPr/>
          <p:nvPr/>
        </p:nvSpPr>
        <p:spPr>
          <a:xfrm>
            <a:off x="635000" y="990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ROW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000" y="1270000"/>
            <a:ext cx="2794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" y="127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1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Revenue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56000" y="1270000"/>
            <a:ext cx="2794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0" name="Text 8"/>
          <p:cNvSpPr/>
          <p:nvPr/>
        </p:nvSpPr>
        <p:spPr>
          <a:xfrm>
            <a:off x="3556000" y="127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2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Rating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0" y="1270000"/>
            <a:ext cx="2794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0" y="127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3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Discount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98000" y="1270000"/>
            <a:ext cx="2794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4" name="Text 12"/>
          <p:cNvSpPr/>
          <p:nvPr/>
        </p:nvSpPr>
        <p:spPr>
          <a:xfrm>
            <a:off x="9398000" y="127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4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Value Score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19000" y="1270000"/>
            <a:ext cx="3302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6" name="Text 14"/>
          <p:cNvSpPr/>
          <p:nvPr/>
        </p:nvSpPr>
        <p:spPr>
          <a:xfrm>
            <a:off x="12319000" y="1270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5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 Stock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000" y="20828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LEFT SIDEBAR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" y="2362200"/>
            <a:ext cx="2032000" cy="3810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9" name="Text 17"/>
          <p:cNvSpPr/>
          <p:nvPr/>
        </p:nvSpPr>
        <p:spPr>
          <a:xfrm>
            <a:off x="736600" y="2463800"/>
            <a:ext cx="1828800" cy="360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1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Slicers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Category (Tile)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Brand (Dropdown)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Price Segment (List)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Stock Status (Tile)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Quarter Added (List)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70200" y="20828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CENTER AREA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70200" y="2362200"/>
            <a:ext cx="6350000" cy="18415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Shape 20"/>
          <p:cNvSpPr/>
          <p:nvPr/>
        </p:nvSpPr>
        <p:spPr>
          <a:xfrm>
            <a:off x="2870200" y="2362200"/>
            <a:ext cx="6350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3" name="Text 21"/>
          <p:cNvSpPr/>
          <p:nvPr/>
        </p:nvSpPr>
        <p:spPr>
          <a:xfrm>
            <a:off x="2971800" y="2463800"/>
            <a:ext cx="61468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Decomposition Tree (Major)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Potential by Category &gt; Subcategory &gt; Brand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 from ₹45B to single brand in 3 clicks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70200" y="4330700"/>
            <a:ext cx="6350000" cy="18415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5" name="Shape 23"/>
          <p:cNvSpPr/>
          <p:nvPr/>
        </p:nvSpPr>
        <p:spPr>
          <a:xfrm>
            <a:off x="2870200" y="4330700"/>
            <a:ext cx="6350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6" name="Text 24"/>
          <p:cNvSpPr/>
          <p:nvPr/>
        </p:nvSpPr>
        <p:spPr>
          <a:xfrm>
            <a:off x="2971800" y="4432300"/>
            <a:ext cx="61468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Scatter/Bubble Matrix (Major)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Popularity vs Value Intelligence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X=popularity_score, Y=value_score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Size=revenue_potential, Legend=price_segment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98000" y="2082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 PANEL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98000" y="2362200"/>
            <a:ext cx="6223000" cy="18415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9" name="Shape 27"/>
          <p:cNvSpPr/>
          <p:nvPr/>
        </p:nvSpPr>
        <p:spPr>
          <a:xfrm>
            <a:off x="9398000" y="2362200"/>
            <a:ext cx="6223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0" name="Text 28"/>
          <p:cNvSpPr/>
          <p:nvPr/>
        </p:nvSpPr>
        <p:spPr>
          <a:xfrm>
            <a:off x="9499600" y="2463800"/>
            <a:ext cx="60198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Treemap (Major)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Potential Distribution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Category and Price Segment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+ Electronics = ₹28B concentration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000" y="635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 ROW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000" y="6629400"/>
            <a:ext cx="2921000" cy="139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3" name="Text 31"/>
          <p:cNvSpPr/>
          <p:nvPr/>
        </p:nvSpPr>
        <p:spPr>
          <a:xfrm>
            <a:off x="736600" y="6731000"/>
            <a:ext cx="27178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Donut 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 Category Distribution (count)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83000" y="6629400"/>
            <a:ext cx="2921000" cy="139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5" name="Text 33"/>
          <p:cNvSpPr/>
          <p:nvPr/>
        </p:nvSpPr>
        <p:spPr>
          <a:xfrm>
            <a:off x="3784600" y="6731000"/>
            <a:ext cx="27178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Donut 2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at Risk by Stock Status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31000" y="6629400"/>
            <a:ext cx="2921000" cy="139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7" name="Text 35"/>
          <p:cNvSpPr/>
          <p:nvPr/>
        </p:nvSpPr>
        <p:spPr>
          <a:xfrm>
            <a:off x="6832600" y="6731000"/>
            <a:ext cx="27178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Price by Price Segment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779000" y="6629400"/>
            <a:ext cx="2921000" cy="139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9" name="Text 37"/>
          <p:cNvSpPr/>
          <p:nvPr/>
        </p:nvSpPr>
        <p:spPr>
          <a:xfrm>
            <a:off x="9880600" y="6731000"/>
            <a:ext cx="27178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Clustered Bar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Volume Tier by Category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827000" y="6629400"/>
            <a:ext cx="2794000" cy="1397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1" name="Text 39"/>
          <p:cNvSpPr/>
          <p:nvPr/>
        </p:nvSpPr>
        <p:spPr>
          <a:xfrm>
            <a:off x="12928600" y="6731000"/>
            <a:ext cx="25908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Chart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Product Count vs Avg Rating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43" name="Text 41"/>
          <p:cNvSpPr/>
          <p:nvPr/>
        </p:nvSpPr>
        <p:spPr>
          <a:xfrm>
            <a:off x="635000" y="84328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Layout: Executive reading flow — KPIs first, then strategic visuals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Strategic KPIs — ₹45.1B revenue potential with critical inventory and discount risks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041400"/>
            <a:ext cx="2844800" cy="2286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041400"/>
            <a:ext cx="28448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Shape 6"/>
          <p:cNvSpPr/>
          <p:nvPr/>
        </p:nvSpPr>
        <p:spPr>
          <a:xfrm>
            <a:off x="844550" y="1219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0" y="38100"/>
                </a:moveTo>
                <a:cubicBezTo>
                  <a:pt x="0" y="27563"/>
                  <a:pt x="8513" y="19050"/>
                  <a:pt x="19050" y="19050"/>
                </a:cubicBezTo>
                <a:lnTo>
                  <a:pt x="176212" y="19050"/>
                </a:lnTo>
                <a:cubicBezTo>
                  <a:pt x="184130" y="19050"/>
                  <a:pt x="190500" y="25420"/>
                  <a:pt x="190500" y="33338"/>
                </a:cubicBezTo>
                <a:cubicBezTo>
                  <a:pt x="190500" y="41255"/>
                  <a:pt x="184130" y="47625"/>
                  <a:pt x="176212" y="47625"/>
                </a:cubicBezTo>
                <a:lnTo>
                  <a:pt x="130552" y="47625"/>
                </a:lnTo>
                <a:cubicBezTo>
                  <a:pt x="141089" y="59412"/>
                  <a:pt x="148471" y="74176"/>
                  <a:pt x="151209" y="90488"/>
                </a:cubicBezTo>
                <a:lnTo>
                  <a:pt x="176212" y="90488"/>
                </a:lnTo>
                <a:cubicBezTo>
                  <a:pt x="184130" y="90488"/>
                  <a:pt x="190500" y="96857"/>
                  <a:pt x="190500" y="104775"/>
                </a:cubicBezTo>
                <a:cubicBezTo>
                  <a:pt x="190500" y="112693"/>
                  <a:pt x="184130" y="119062"/>
                  <a:pt x="176212" y="119062"/>
                </a:cubicBezTo>
                <a:lnTo>
                  <a:pt x="151209" y="119062"/>
                </a:lnTo>
                <a:cubicBezTo>
                  <a:pt x="145018" y="156091"/>
                  <a:pt x="115014" y="185083"/>
                  <a:pt x="77510" y="189845"/>
                </a:cubicBezTo>
                <a:lnTo>
                  <a:pt x="163473" y="251222"/>
                </a:lnTo>
                <a:cubicBezTo>
                  <a:pt x="172045" y="257354"/>
                  <a:pt x="174010" y="269260"/>
                  <a:pt x="167878" y="277773"/>
                </a:cubicBezTo>
                <a:cubicBezTo>
                  <a:pt x="161746" y="286286"/>
                  <a:pt x="149840" y="288310"/>
                  <a:pt x="141327" y="282178"/>
                </a:cubicBezTo>
                <a:lnTo>
                  <a:pt x="7977" y="186928"/>
                </a:lnTo>
                <a:cubicBezTo>
                  <a:pt x="1250" y="182166"/>
                  <a:pt x="-1607" y="173534"/>
                  <a:pt x="893" y="165616"/>
                </a:cubicBezTo>
                <a:cubicBezTo>
                  <a:pt x="3393" y="157698"/>
                  <a:pt x="10775" y="152400"/>
                  <a:pt x="19050" y="152400"/>
                </a:cubicBezTo>
                <a:lnTo>
                  <a:pt x="66675" y="152400"/>
                </a:lnTo>
                <a:cubicBezTo>
                  <a:pt x="87987" y="152400"/>
                  <a:pt x="106025" y="138410"/>
                  <a:pt x="112097" y="119062"/>
                </a:cubicBezTo>
                <a:lnTo>
                  <a:pt x="14288" y="119062"/>
                </a:lnTo>
                <a:cubicBezTo>
                  <a:pt x="6370" y="119062"/>
                  <a:pt x="0" y="112693"/>
                  <a:pt x="0" y="104775"/>
                </a:cubicBezTo>
                <a:cubicBezTo>
                  <a:pt x="0" y="96857"/>
                  <a:pt x="6370" y="90488"/>
                  <a:pt x="14288" y="90488"/>
                </a:cubicBezTo>
                <a:lnTo>
                  <a:pt x="112097" y="90488"/>
                </a:lnTo>
                <a:cubicBezTo>
                  <a:pt x="106025" y="71140"/>
                  <a:pt x="87987" y="57150"/>
                  <a:pt x="66675" y="57150"/>
                </a:cubicBezTo>
                <a:lnTo>
                  <a:pt x="19050" y="57150"/>
                </a:lnTo>
                <a:cubicBezTo>
                  <a:pt x="8513" y="57150"/>
                  <a:pt x="0" y="48637"/>
                  <a:pt x="0" y="38100"/>
                </a:cubicBezTo>
                <a:close/>
              </a:path>
            </a:pathLst>
          </a:custGeom>
          <a:solidFill>
            <a:srgbClr val="00C6FF"/>
          </a:solidFill>
          <a:ln/>
        </p:spPr>
      </p:sp>
      <p:sp>
        <p:nvSpPr>
          <p:cNvPr id="9" name="Text 7"/>
          <p:cNvSpPr/>
          <p:nvPr/>
        </p:nvSpPr>
        <p:spPr>
          <a:xfrm>
            <a:off x="787400" y="16002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₹45.1B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7400" y="2184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Revenue Potential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7400" y="2489200"/>
            <a:ext cx="2540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monetizable revenue across all 2000 products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1041400"/>
            <a:ext cx="2844800" cy="2286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1041400"/>
            <a:ext cx="28448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790950" y="1219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C9963B"/>
          </a:solidFill>
          <a:ln/>
        </p:spPr>
      </p:sp>
      <p:sp>
        <p:nvSpPr>
          <p:cNvPr id="15" name="Text 13"/>
          <p:cNvSpPr/>
          <p:nvPr/>
        </p:nvSpPr>
        <p:spPr>
          <a:xfrm>
            <a:off x="3810000" y="16002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4.10 / 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10000" y="2184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10000" y="24892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quality perception — above industry average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80200" y="1041400"/>
            <a:ext cx="2844800" cy="2286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6680200" y="1041400"/>
            <a:ext cx="2844800" cy="381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2600" y="121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348" y="57150"/>
                </a:moveTo>
                <a:lnTo>
                  <a:pt x="19348" y="146149"/>
                </a:lnTo>
                <a:cubicBezTo>
                  <a:pt x="19348" y="156270"/>
                  <a:pt x="23336" y="165973"/>
                  <a:pt x="30480" y="173117"/>
                </a:cubicBezTo>
                <a:lnTo>
                  <a:pt x="144780" y="287417"/>
                </a:lnTo>
                <a:cubicBezTo>
                  <a:pt x="159663" y="302300"/>
                  <a:pt x="183773" y="302300"/>
                  <a:pt x="198656" y="287417"/>
                </a:cubicBezTo>
                <a:lnTo>
                  <a:pt x="287655" y="198418"/>
                </a:lnTo>
                <a:cubicBezTo>
                  <a:pt x="302538" y="183535"/>
                  <a:pt x="302538" y="159425"/>
                  <a:pt x="287655" y="144542"/>
                </a:cubicBezTo>
                <a:lnTo>
                  <a:pt x="173355" y="30242"/>
                </a:lnTo>
                <a:cubicBezTo>
                  <a:pt x="166211" y="23039"/>
                  <a:pt x="156567" y="19050"/>
                  <a:pt x="146447" y="19050"/>
                </a:cubicBezTo>
                <a:lnTo>
                  <a:pt x="57448" y="19050"/>
                </a:lnTo>
                <a:cubicBezTo>
                  <a:pt x="36433" y="19050"/>
                  <a:pt x="19348" y="36135"/>
                  <a:pt x="19348" y="57150"/>
                </a:cubicBezTo>
                <a:close/>
                <a:moveTo>
                  <a:pt x="86023" y="66675"/>
                </a:moveTo>
                <a:cubicBezTo>
                  <a:pt x="96537" y="66675"/>
                  <a:pt x="105073" y="75211"/>
                  <a:pt x="105073" y="85725"/>
                </a:cubicBezTo>
                <a:cubicBezTo>
                  <a:pt x="105073" y="96239"/>
                  <a:pt x="96537" y="104775"/>
                  <a:pt x="86023" y="104775"/>
                </a:cubicBezTo>
                <a:cubicBezTo>
                  <a:pt x="75509" y="104775"/>
                  <a:pt x="66973" y="96239"/>
                  <a:pt x="66973" y="85725"/>
                </a:cubicBezTo>
                <a:cubicBezTo>
                  <a:pt x="66973" y="75211"/>
                  <a:pt x="75509" y="66675"/>
                  <a:pt x="86023" y="6667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6832600" y="16002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38.57%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32600" y="2184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Discount 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32600" y="24892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discounting — margin erosion risk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02800" y="1041400"/>
            <a:ext cx="2844800" cy="2286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5" name="Shape 23"/>
          <p:cNvSpPr/>
          <p:nvPr/>
        </p:nvSpPr>
        <p:spPr>
          <a:xfrm>
            <a:off x="9702800" y="1041400"/>
            <a:ext cx="2844800" cy="381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6" name="Shape 24"/>
          <p:cNvSpPr/>
          <p:nvPr/>
        </p:nvSpPr>
        <p:spPr>
          <a:xfrm>
            <a:off x="9836150" y="1219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5038" y="142875"/>
                </a:moveTo>
                <a:lnTo>
                  <a:pt x="200263" y="142875"/>
                </a:lnTo>
                <a:cubicBezTo>
                  <a:pt x="189726" y="142875"/>
                  <a:pt x="181213" y="134362"/>
                  <a:pt x="181213" y="123825"/>
                </a:cubicBezTo>
                <a:lnTo>
                  <a:pt x="181213" y="19050"/>
                </a:lnTo>
                <a:cubicBezTo>
                  <a:pt x="181213" y="8513"/>
                  <a:pt x="189786" y="-119"/>
                  <a:pt x="200204" y="1250"/>
                </a:cubicBezTo>
                <a:cubicBezTo>
                  <a:pt x="263902" y="9704"/>
                  <a:pt x="314385" y="60186"/>
                  <a:pt x="322838" y="123885"/>
                </a:cubicBezTo>
                <a:cubicBezTo>
                  <a:pt x="324207" y="134303"/>
                  <a:pt x="315575" y="142875"/>
                  <a:pt x="305038" y="142875"/>
                </a:cubicBezTo>
                <a:close/>
                <a:moveTo>
                  <a:pt x="132517" y="22146"/>
                </a:moveTo>
                <a:cubicBezTo>
                  <a:pt x="143292" y="19883"/>
                  <a:pt x="152638" y="28694"/>
                  <a:pt x="152638" y="39707"/>
                </a:cubicBezTo>
                <a:lnTo>
                  <a:pt x="152638" y="157163"/>
                </a:lnTo>
                <a:cubicBezTo>
                  <a:pt x="152638" y="160496"/>
                  <a:pt x="153829" y="163711"/>
                  <a:pt x="155912" y="166271"/>
                </a:cubicBezTo>
                <a:lnTo>
                  <a:pt x="234553" y="261164"/>
                </a:lnTo>
                <a:cubicBezTo>
                  <a:pt x="241518" y="269558"/>
                  <a:pt x="240030" y="282238"/>
                  <a:pt x="230445" y="287417"/>
                </a:cubicBezTo>
                <a:cubicBezTo>
                  <a:pt x="210145" y="298490"/>
                  <a:pt x="186869" y="304800"/>
                  <a:pt x="162163" y="304800"/>
                </a:cubicBezTo>
                <a:cubicBezTo>
                  <a:pt x="83284" y="304800"/>
                  <a:pt x="19288" y="240804"/>
                  <a:pt x="19288" y="161925"/>
                </a:cubicBezTo>
                <a:cubicBezTo>
                  <a:pt x="19288" y="93166"/>
                  <a:pt x="67806" y="35778"/>
                  <a:pt x="132517" y="22146"/>
                </a:cubicBezTo>
                <a:close/>
                <a:moveTo>
                  <a:pt x="284440" y="171450"/>
                </a:moveTo>
                <a:lnTo>
                  <a:pt x="322540" y="171450"/>
                </a:lnTo>
                <a:cubicBezTo>
                  <a:pt x="333554" y="171450"/>
                  <a:pt x="342364" y="180796"/>
                  <a:pt x="340102" y="191572"/>
                </a:cubicBezTo>
                <a:cubicBezTo>
                  <a:pt x="334030" y="220385"/>
                  <a:pt x="319266" y="245983"/>
                  <a:pt x="298668" y="265509"/>
                </a:cubicBezTo>
                <a:cubicBezTo>
                  <a:pt x="291346" y="272475"/>
                  <a:pt x="279856" y="270986"/>
                  <a:pt x="273427" y="263188"/>
                </a:cubicBezTo>
                <a:lnTo>
                  <a:pt x="223183" y="202644"/>
                </a:lnTo>
                <a:cubicBezTo>
                  <a:pt x="212884" y="190202"/>
                  <a:pt x="221754" y="171450"/>
                  <a:pt x="237827" y="171450"/>
                </a:cubicBezTo>
                <a:lnTo>
                  <a:pt x="284381" y="171450"/>
                </a:lnTo>
                <a:close/>
              </a:path>
            </a:pathLst>
          </a:custGeom>
          <a:solidFill>
            <a:srgbClr val="FFD600"/>
          </a:solidFill>
          <a:ln/>
        </p:spPr>
      </p:sp>
      <p:sp>
        <p:nvSpPr>
          <p:cNvPr id="27" name="Text 25"/>
          <p:cNvSpPr/>
          <p:nvPr/>
        </p:nvSpPr>
        <p:spPr>
          <a:xfrm>
            <a:off x="9855200" y="16002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D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55200" y="2184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Value Score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55200" y="24892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value perception — pricing review needed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725400" y="1041400"/>
            <a:ext cx="2895600" cy="2286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25400" y="1041400"/>
            <a:ext cx="2895600" cy="381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2" name="Shape 30"/>
          <p:cNvSpPr/>
          <p:nvPr/>
        </p:nvSpPr>
        <p:spPr>
          <a:xfrm>
            <a:off x="12877800" y="121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133350" y="38100"/>
                </a:lnTo>
                <a:cubicBezTo>
                  <a:pt x="133350" y="43339"/>
                  <a:pt x="137636" y="47625"/>
                  <a:pt x="142875" y="47625"/>
                </a:cubicBezTo>
                <a:lnTo>
                  <a:pt x="161925" y="47625"/>
                </a:lnTo>
                <a:cubicBezTo>
                  <a:pt x="167164" y="47625"/>
                  <a:pt x="171450" y="43339"/>
                  <a:pt x="171450" y="38100"/>
                </a:cubicBezTo>
                <a:lnTo>
                  <a:pt x="171450" y="0"/>
                </a:lnTo>
                <a:lnTo>
                  <a:pt x="190500" y="0"/>
                </a:lnTo>
                <a:cubicBezTo>
                  <a:pt x="211515" y="0"/>
                  <a:pt x="228600" y="17085"/>
                  <a:pt x="228600" y="38100"/>
                </a:cubicBezTo>
                <a:lnTo>
                  <a:pt x="228600" y="114300"/>
                </a:lnTo>
                <a:cubicBezTo>
                  <a:pt x="228600" y="117574"/>
                  <a:pt x="228183" y="120789"/>
                  <a:pt x="227409" y="123825"/>
                </a:cubicBezTo>
                <a:lnTo>
                  <a:pt x="77391" y="123825"/>
                </a:lnTo>
                <a:cubicBezTo>
                  <a:pt x="76617" y="120789"/>
                  <a:pt x="76200" y="117574"/>
                  <a:pt x="76200" y="114300"/>
                </a:cubicBezTo>
                <a:lnTo>
                  <a:pt x="76200" y="38100"/>
                </a:lnTo>
                <a:cubicBezTo>
                  <a:pt x="76200" y="17085"/>
                  <a:pt x="93285" y="0"/>
                  <a:pt x="114300" y="0"/>
                </a:cubicBezTo>
                <a:lnTo>
                  <a:pt x="133350" y="0"/>
                </a:lnTo>
                <a:close/>
                <a:moveTo>
                  <a:pt x="190500" y="304800"/>
                </a:moveTo>
                <a:cubicBezTo>
                  <a:pt x="183833" y="304800"/>
                  <a:pt x="177522" y="303074"/>
                  <a:pt x="172045" y="300038"/>
                </a:cubicBezTo>
                <a:cubicBezTo>
                  <a:pt x="177701" y="290215"/>
                  <a:pt x="180975" y="278844"/>
                  <a:pt x="180975" y="266700"/>
                </a:cubicBezTo>
                <a:lnTo>
                  <a:pt x="180975" y="190500"/>
                </a:lnTo>
                <a:cubicBezTo>
                  <a:pt x="180975" y="178356"/>
                  <a:pt x="177701" y="166985"/>
                  <a:pt x="172045" y="157163"/>
                </a:cubicBezTo>
                <a:cubicBezTo>
                  <a:pt x="177522" y="154126"/>
                  <a:pt x="183773" y="152400"/>
                  <a:pt x="190500" y="152400"/>
                </a:cubicBezTo>
                <a:lnTo>
                  <a:pt x="209550" y="152400"/>
                </a:lnTo>
                <a:lnTo>
                  <a:pt x="209550" y="190500"/>
                </a:lnTo>
                <a:cubicBezTo>
                  <a:pt x="209550" y="195739"/>
                  <a:pt x="213836" y="200025"/>
                  <a:pt x="219075" y="200025"/>
                </a:cubicBezTo>
                <a:lnTo>
                  <a:pt x="238125" y="200025"/>
                </a:lnTo>
                <a:cubicBezTo>
                  <a:pt x="243364" y="200025"/>
                  <a:pt x="247650" y="195739"/>
                  <a:pt x="247650" y="190500"/>
                </a:cubicBezTo>
                <a:lnTo>
                  <a:pt x="247650" y="152400"/>
                </a:lnTo>
                <a:lnTo>
                  <a:pt x="266700" y="152400"/>
                </a:lnTo>
                <a:cubicBezTo>
                  <a:pt x="287715" y="152400"/>
                  <a:pt x="304800" y="169485"/>
                  <a:pt x="304800" y="190500"/>
                </a:cubicBezTo>
                <a:lnTo>
                  <a:pt x="304800" y="266700"/>
                </a:lnTo>
                <a:cubicBezTo>
                  <a:pt x="304800" y="287715"/>
                  <a:pt x="287715" y="304800"/>
                  <a:pt x="266700" y="304800"/>
                </a:cubicBezTo>
                <a:lnTo>
                  <a:pt x="190500" y="304800"/>
                </a:lnTo>
                <a:close/>
                <a:moveTo>
                  <a:pt x="0" y="190500"/>
                </a:moveTo>
                <a:cubicBezTo>
                  <a:pt x="0" y="169485"/>
                  <a:pt x="17085" y="152400"/>
                  <a:pt x="38100" y="152400"/>
                </a:cubicBezTo>
                <a:lnTo>
                  <a:pt x="57150" y="152400"/>
                </a:lnTo>
                <a:lnTo>
                  <a:pt x="57150" y="190500"/>
                </a:lnTo>
                <a:cubicBezTo>
                  <a:pt x="57150" y="195739"/>
                  <a:pt x="61436" y="200025"/>
                  <a:pt x="66675" y="200025"/>
                </a:cubicBezTo>
                <a:lnTo>
                  <a:pt x="85725" y="200025"/>
                </a:lnTo>
                <a:cubicBezTo>
                  <a:pt x="90964" y="200025"/>
                  <a:pt x="95250" y="195739"/>
                  <a:pt x="95250" y="190500"/>
                </a:cubicBezTo>
                <a:lnTo>
                  <a:pt x="95250" y="152400"/>
                </a:lnTo>
                <a:lnTo>
                  <a:pt x="114300" y="152400"/>
                </a:lnTo>
                <a:cubicBezTo>
                  <a:pt x="135315" y="152400"/>
                  <a:pt x="152400" y="169485"/>
                  <a:pt x="152400" y="190500"/>
                </a:cubicBezTo>
                <a:lnTo>
                  <a:pt x="152400" y="266700"/>
                </a:lnTo>
                <a:cubicBezTo>
                  <a:pt x="152400" y="287715"/>
                  <a:pt x="135315" y="304800"/>
                  <a:pt x="1143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90500"/>
                </a:lnTo>
                <a:close/>
              </a:path>
            </a:pathLst>
          </a:custGeom>
          <a:solidFill>
            <a:srgbClr val="00E676"/>
          </a:solidFill>
          <a:ln/>
        </p:spPr>
      </p:sp>
      <p:sp>
        <p:nvSpPr>
          <p:cNvPr id="33" name="Text 31"/>
          <p:cNvSpPr/>
          <p:nvPr/>
        </p:nvSpPr>
        <p:spPr>
          <a:xfrm>
            <a:off x="12877800" y="1600200"/>
            <a:ext cx="2590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E6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683/2000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877800" y="2184400"/>
            <a:ext cx="2590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Stock Products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77800" y="2489200"/>
            <a:ext cx="2590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34% available — 66% revenue opportunity lost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000" y="3556000"/>
            <a:ext cx="7620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7" name="Shape 35"/>
          <p:cNvSpPr/>
          <p:nvPr/>
        </p:nvSpPr>
        <p:spPr>
          <a:xfrm>
            <a:off x="635000" y="3556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8" name="Text 36"/>
          <p:cNvSpPr/>
          <p:nvPr/>
        </p:nvSpPr>
        <p:spPr>
          <a:xfrm>
            <a:off x="736600" y="35560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Potential by Category</a:t>
            </a:r>
            <a:endParaRPr lang="en-US" sz="16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635000" y="3886200"/>
          <a:ext cx="762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Shape 37"/>
          <p:cNvSpPr/>
          <p:nvPr/>
        </p:nvSpPr>
        <p:spPr>
          <a:xfrm>
            <a:off x="8509000" y="3556000"/>
            <a:ext cx="7112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1" name="Shape 38"/>
          <p:cNvSpPr/>
          <p:nvPr/>
        </p:nvSpPr>
        <p:spPr>
          <a:xfrm>
            <a:off x="8509000" y="3556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2" name="Text 39"/>
          <p:cNvSpPr/>
          <p:nvPr/>
        </p:nvSpPr>
        <p:spPr>
          <a:xfrm>
            <a:off x="8610600" y="35560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 Status Distribution</a:t>
            </a:r>
            <a:endParaRPr lang="en-US" sz="1600" dirty="0"/>
          </a:p>
        </p:txBody>
      </p:sp>
      <p:graphicFrame>
        <p:nvGraphicFramePr>
          <p:cNvPr id="43" name="Chart 1"/>
          <p:cNvGraphicFramePr/>
          <p:nvPr/>
        </p:nvGraphicFramePr>
        <p:xfrm>
          <a:off x="8509000" y="3886200"/>
          <a:ext cx="7112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Shape 40"/>
          <p:cNvSpPr/>
          <p:nvPr/>
        </p:nvSpPr>
        <p:spPr>
          <a:xfrm>
            <a:off x="635000" y="7188200"/>
            <a:ext cx="14986000" cy="889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5" name="Shape 41"/>
          <p:cNvSpPr/>
          <p:nvPr/>
        </p:nvSpPr>
        <p:spPr>
          <a:xfrm>
            <a:off x="635000" y="7188200"/>
            <a:ext cx="38100" cy="889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6" name="Text 42"/>
          <p:cNvSpPr/>
          <p:nvPr/>
        </p:nvSpPr>
        <p:spPr>
          <a:xfrm>
            <a:off x="863600" y="7188200"/>
            <a:ext cx="14541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Alert: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These 5 KPIs tell a story — strong revenue potential (₹45.1B), decent quality (4.10/5), but aggressive discounting (38.57%) and critical inventory gaps (only 34% in stock) create serious business risk.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48" name="Text 44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E-Commerce Products Dataset, Power BI DAX Measures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Visual Intelligence — Decomposition tree, scatter matrix, and treemap reveal critical revenue patterns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7493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Decomposition Tree — Revenue by Category &gt; Subcategory &gt; Brand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35000" y="1270000"/>
          <a:ext cx="749300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36600" y="4267200"/>
            <a:ext cx="7289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</a:t>
            </a: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Electronics (₹35.8B) dominates. Within Electronics, Smartphones lead. OnePlus, Samsung, Apple are top 3 brands — all within ₹30M of each other.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55000" y="965200"/>
            <a:ext cx="7366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2" name="Shape 9"/>
          <p:cNvSpPr/>
          <p:nvPr/>
        </p:nvSpPr>
        <p:spPr>
          <a:xfrm>
            <a:off x="825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3" name="Text 10"/>
          <p:cNvSpPr/>
          <p:nvPr/>
        </p:nvSpPr>
        <p:spPr>
          <a:xfrm>
            <a:off x="8356600" y="965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Scatter/Bubble — Popularity vs Value Intelligence Matrix</a:t>
            </a:r>
            <a:endParaRPr lang="en-US" sz="16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8255000" y="1270000"/>
          <a:ext cx="736600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8356600" y="4267200"/>
            <a:ext cx="716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</a:t>
            </a: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Most Luxury products cluster high-popularity but low value score — premium pricing not delivering perceived value to customers.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35000" y="5080000"/>
            <a:ext cx="7493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7" name="Shape 13"/>
          <p:cNvSpPr/>
          <p:nvPr/>
        </p:nvSpPr>
        <p:spPr>
          <a:xfrm>
            <a:off x="635000" y="5080000"/>
            <a:ext cx="38100" cy="2794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8" name="Text 14"/>
          <p:cNvSpPr/>
          <p:nvPr/>
        </p:nvSpPr>
        <p:spPr>
          <a:xfrm>
            <a:off x="736600" y="50800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Treemap — Revenue by Category and Price Segment</a:t>
            </a:r>
            <a:endParaRPr lang="en-US" sz="16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635000" y="5384800"/>
          <a:ext cx="7493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Shape 15"/>
          <p:cNvSpPr/>
          <p:nvPr/>
        </p:nvSpPr>
        <p:spPr>
          <a:xfrm>
            <a:off x="8255000" y="5080000"/>
            <a:ext cx="7366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1" name="Shape 16"/>
          <p:cNvSpPr/>
          <p:nvPr/>
        </p:nvSpPr>
        <p:spPr>
          <a:xfrm>
            <a:off x="8255000" y="5080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2" name="Text 17"/>
          <p:cNvSpPr/>
          <p:nvPr/>
        </p:nvSpPr>
        <p:spPr>
          <a:xfrm>
            <a:off x="8356600" y="50800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5 Brands by Revenue Potential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5384800"/>
          <a:ext cx="7366000" cy="26670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OnePlus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₹5.61B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Electronics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Samsung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₹5.61B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Electronics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₹5.59B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Electronics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C99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₹4.88B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Electronics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Sony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C99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₹4.83B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Electronics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25" name="Text 19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Power BI Dashboard Visuals, DAX Measures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Actionable Business Insights — Every insight drives a specific strategic decision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90600"/>
            <a:ext cx="7302500" cy="914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90600"/>
            <a:ext cx="38100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10160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016000"/>
            <a:ext cx="6667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Concentration Risk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Electronics = 79.5% of revenue. Over-dependence on single category = high business risk.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Diversify catalog investment into Footwear and Accessories.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4500" y="990600"/>
            <a:ext cx="7556500" cy="914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Shape 9"/>
          <p:cNvSpPr/>
          <p:nvPr/>
        </p:nvSpPr>
        <p:spPr>
          <a:xfrm>
            <a:off x="8064500" y="990600"/>
            <a:ext cx="38100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8166100" y="10160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2500" y="1016000"/>
            <a:ext cx="6921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Crisis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1317 products unavailable (65.85%). ₹29.6B revenue blocked.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Emergency restocking of top-revenue OOS products.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000" y="1981200"/>
            <a:ext cx="7302500" cy="914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000" y="1981200"/>
            <a:ext cx="38100" cy="914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6600" y="20066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006600"/>
            <a:ext cx="6667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Segment Dominance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Luxury = ₹28.3B (62.9%). Only 303 products, highest ROI.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Introduce Luxury tier in Footwear and Accessories.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64500" y="1981200"/>
            <a:ext cx="7556500" cy="914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4500" y="1981200"/>
            <a:ext cx="38100" cy="9144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0" name="Text 18"/>
          <p:cNvSpPr/>
          <p:nvPr/>
        </p:nvSpPr>
        <p:spPr>
          <a:xfrm>
            <a:off x="8166100" y="20066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D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72500" y="2006600"/>
            <a:ext cx="6921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D6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Strategy Concern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38.57% avg discount with low value_score (1.88) = margin erosion.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Apply discount floor policy — no product below 20% margin.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000" y="2971800"/>
            <a:ext cx="7302500" cy="914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000" y="2971800"/>
            <a:ext cx="38100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736600" y="29972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2997200"/>
            <a:ext cx="6667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Alert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272 products (13.6%) rated Poor. Damaging brand trust despite revenue.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Quality audit on all Poor-rated products in Luxury &amp; Premium.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64500" y="2971800"/>
            <a:ext cx="7556500" cy="914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7" name="Shape 25"/>
          <p:cNvSpPr/>
          <p:nvPr/>
        </p:nvSpPr>
        <p:spPr>
          <a:xfrm>
            <a:off x="8064500" y="2971800"/>
            <a:ext cx="38100" cy="9144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8" name="Text 26"/>
          <p:cNvSpPr/>
          <p:nvPr/>
        </p:nvSpPr>
        <p:spPr>
          <a:xfrm>
            <a:off x="8166100" y="29972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72500" y="2997200"/>
            <a:ext cx="6921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Engagement Gap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High Volume reviews dominated by Electronics. Fashion &amp; Accessories lagging.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Launch post-purchase review nudge campaigns.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000" y="3962400"/>
            <a:ext cx="7302500" cy="914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000" y="3962400"/>
            <a:ext cx="38100" cy="914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2" name="Text 30"/>
          <p:cNvSpPr/>
          <p:nvPr/>
        </p:nvSpPr>
        <p:spPr>
          <a:xfrm>
            <a:off x="736600" y="39878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3987800"/>
            <a:ext cx="6667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Competitiveness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OnePlus, Samsung, Apple within ₹30M at top. No single brand dominates.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Negotiate exclusive deals with top 3 brands.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64500" y="3962400"/>
            <a:ext cx="7556500" cy="914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5" name="Shape 33"/>
          <p:cNvSpPr/>
          <p:nvPr/>
        </p:nvSpPr>
        <p:spPr>
          <a:xfrm>
            <a:off x="8064500" y="3962400"/>
            <a:ext cx="38100" cy="9144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6" name="Text 34"/>
          <p:cNvSpPr/>
          <p:nvPr/>
        </p:nvSpPr>
        <p:spPr>
          <a:xfrm>
            <a:off x="8166100" y="39878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D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72500" y="3987800"/>
            <a:ext cx="6921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D6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Score Concern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Average value_score of 1.88 is very low. Customers not getting value.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Review pricing in Mid-Range and Premium segments.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000" y="5003800"/>
            <a:ext cx="14986000" cy="7112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9" name="Text 37"/>
          <p:cNvSpPr/>
          <p:nvPr/>
        </p:nvSpPr>
        <p:spPr>
          <a:xfrm>
            <a:off x="889000" y="5003800"/>
            <a:ext cx="1447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Metrics at a Glance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Concentration: </a:t>
            </a: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 Electronics</a:t>
            </a: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Inventory Gap: </a:t>
            </a: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65.85% unavailable</a:t>
            </a: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Luxury Share: </a:t>
            </a: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62.9%</a:t>
            </a: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Avg Discount: </a:t>
            </a: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38.57%</a:t>
            </a: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Poor Quality: </a:t>
            </a: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</a:t>
            </a: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Value Score: </a:t>
            </a:r>
            <a:r>
              <a:rPr lang="en-US" sz="13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1.88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000" y="6477000"/>
            <a:ext cx="7366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1" name="Shape 39"/>
          <p:cNvSpPr/>
          <p:nvPr/>
        </p:nvSpPr>
        <p:spPr>
          <a:xfrm>
            <a:off x="635000" y="64770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2" name="Text 40"/>
          <p:cNvSpPr/>
          <p:nvPr/>
        </p:nvSpPr>
        <p:spPr>
          <a:xfrm>
            <a:off x="736600" y="6477000"/>
            <a:ext cx="711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Rating Category Distribution</a:t>
            </a:r>
            <a:endParaRPr lang="en-US" sz="1600" dirty="0"/>
          </a:p>
        </p:txBody>
      </p:sp>
      <p:graphicFrame>
        <p:nvGraphicFramePr>
          <p:cNvPr id="43" name="Chart 0"/>
          <p:cNvGraphicFramePr/>
          <p:nvPr/>
        </p:nvGraphicFramePr>
        <p:xfrm>
          <a:off x="635000" y="6781800"/>
          <a:ext cx="7366000" cy="134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" name="Shape 41"/>
          <p:cNvSpPr/>
          <p:nvPr/>
        </p:nvSpPr>
        <p:spPr>
          <a:xfrm>
            <a:off x="8255000" y="6477000"/>
            <a:ext cx="7366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5" name="Shape 42"/>
          <p:cNvSpPr/>
          <p:nvPr/>
        </p:nvSpPr>
        <p:spPr>
          <a:xfrm>
            <a:off x="8255000" y="6477000"/>
            <a:ext cx="38100" cy="2794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46" name="Text 43"/>
          <p:cNvSpPr/>
          <p:nvPr/>
        </p:nvSpPr>
        <p:spPr>
          <a:xfrm>
            <a:off x="8356600" y="6477000"/>
            <a:ext cx="711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by Price Segment</a:t>
            </a:r>
            <a:endParaRPr lang="en-US" sz="1600" dirty="0"/>
          </a:p>
        </p:txBody>
      </p:sp>
      <p:graphicFrame>
        <p:nvGraphicFramePr>
          <p:cNvPr id="47" name="Chart 1"/>
          <p:cNvGraphicFramePr/>
          <p:nvPr/>
        </p:nvGraphicFramePr>
        <p:xfrm>
          <a:off x="8255000" y="6781800"/>
          <a:ext cx="7366000" cy="134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Shape 44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49" name="Text 45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Power BI Dashboard Analysis, DAX Calculated Measures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 Framework — From visual analytics to strategic decision-making across 4 pillars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016000"/>
            <a:ext cx="7302500" cy="177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016000"/>
            <a:ext cx="38100" cy="1778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Shape 6"/>
          <p:cNvSpPr/>
          <p:nvPr/>
        </p:nvSpPr>
        <p:spPr>
          <a:xfrm>
            <a:off x="863600" y="1168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0C6FF"/>
          </a:solidFill>
          <a:ln/>
        </p:spPr>
      </p:sp>
      <p:sp>
        <p:nvSpPr>
          <p:cNvPr id="9" name="Text 7"/>
          <p:cNvSpPr/>
          <p:nvPr/>
        </p:nvSpPr>
        <p:spPr>
          <a:xfrm>
            <a:off x="1320800" y="1168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Optimization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1574800"/>
            <a:ext cx="685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+ Electronics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combination for maximum ROI. Expand catalog in high-ROI price segments.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Increase Footwear &amp; Accessories revenue by 40%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64500" y="1016000"/>
            <a:ext cx="7556500" cy="177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2" name="Shape 10"/>
          <p:cNvSpPr/>
          <p:nvPr/>
        </p:nvSpPr>
        <p:spPr>
          <a:xfrm>
            <a:off x="8064500" y="1016000"/>
            <a:ext cx="38100" cy="1778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93100" y="1168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lnTo>
                  <a:pt x="155575" y="44450"/>
                </a:lnTo>
                <a:cubicBezTo>
                  <a:pt x="155575" y="50562"/>
                  <a:pt x="160576" y="55563"/>
                  <a:pt x="166688" y="55563"/>
                </a:cubicBezTo>
                <a:lnTo>
                  <a:pt x="188913" y="55563"/>
                </a:lnTo>
                <a:cubicBezTo>
                  <a:pt x="195024" y="55563"/>
                  <a:pt x="200025" y="50562"/>
                  <a:pt x="200025" y="44450"/>
                </a:cubicBezTo>
                <a:lnTo>
                  <a:pt x="200025" y="0"/>
                </a:lnTo>
                <a:lnTo>
                  <a:pt x="222250" y="0"/>
                </a:lnTo>
                <a:cubicBezTo>
                  <a:pt x="246767" y="0"/>
                  <a:pt x="266700" y="19933"/>
                  <a:pt x="266700" y="44450"/>
                </a:cubicBezTo>
                <a:lnTo>
                  <a:pt x="266700" y="133350"/>
                </a:lnTo>
                <a:cubicBezTo>
                  <a:pt x="266700" y="137170"/>
                  <a:pt x="266214" y="140920"/>
                  <a:pt x="265311" y="144463"/>
                </a:cubicBezTo>
                <a:lnTo>
                  <a:pt x="90289" y="144463"/>
                </a:lnTo>
                <a:cubicBezTo>
                  <a:pt x="89386" y="140920"/>
                  <a:pt x="88900" y="137170"/>
                  <a:pt x="88900" y="133350"/>
                </a:cubicBezTo>
                <a:lnTo>
                  <a:pt x="88900" y="44450"/>
                </a:lnTo>
                <a:cubicBezTo>
                  <a:pt x="88900" y="19933"/>
                  <a:pt x="108833" y="0"/>
                  <a:pt x="133350" y="0"/>
                </a:cubicBezTo>
                <a:lnTo>
                  <a:pt x="155575" y="0"/>
                </a:lnTo>
                <a:close/>
                <a:moveTo>
                  <a:pt x="222250" y="355600"/>
                </a:moveTo>
                <a:cubicBezTo>
                  <a:pt x="214471" y="355600"/>
                  <a:pt x="207109" y="353586"/>
                  <a:pt x="200720" y="350044"/>
                </a:cubicBezTo>
                <a:cubicBezTo>
                  <a:pt x="207318" y="338584"/>
                  <a:pt x="211138" y="325318"/>
                  <a:pt x="211138" y="311150"/>
                </a:cubicBezTo>
                <a:lnTo>
                  <a:pt x="211138" y="222250"/>
                </a:lnTo>
                <a:cubicBezTo>
                  <a:pt x="211138" y="208082"/>
                  <a:pt x="207318" y="194816"/>
                  <a:pt x="200720" y="183356"/>
                </a:cubicBezTo>
                <a:cubicBezTo>
                  <a:pt x="207109" y="179814"/>
                  <a:pt x="214402" y="177800"/>
                  <a:pt x="222250" y="177800"/>
                </a:cubicBezTo>
                <a:lnTo>
                  <a:pt x="244475" y="177800"/>
                </a:lnTo>
                <a:lnTo>
                  <a:pt x="244475" y="222250"/>
                </a:lnTo>
                <a:cubicBezTo>
                  <a:pt x="244475" y="228362"/>
                  <a:pt x="249476" y="233363"/>
                  <a:pt x="255587" y="233363"/>
                </a:cubicBezTo>
                <a:lnTo>
                  <a:pt x="277813" y="233363"/>
                </a:lnTo>
                <a:cubicBezTo>
                  <a:pt x="283924" y="233363"/>
                  <a:pt x="288925" y="228362"/>
                  <a:pt x="288925" y="222250"/>
                </a:cubicBezTo>
                <a:lnTo>
                  <a:pt x="288925" y="177800"/>
                </a:lnTo>
                <a:lnTo>
                  <a:pt x="311150" y="177800"/>
                </a:lnTo>
                <a:cubicBezTo>
                  <a:pt x="335667" y="177800"/>
                  <a:pt x="355600" y="197733"/>
                  <a:pt x="355600" y="222250"/>
                </a:cubicBezTo>
                <a:lnTo>
                  <a:pt x="355600" y="311150"/>
                </a:lnTo>
                <a:cubicBezTo>
                  <a:pt x="355600" y="335667"/>
                  <a:pt x="335667" y="355600"/>
                  <a:pt x="311150" y="355600"/>
                </a:cubicBezTo>
                <a:lnTo>
                  <a:pt x="222250" y="355600"/>
                </a:lnTo>
                <a:close/>
                <a:moveTo>
                  <a:pt x="0" y="222250"/>
                </a:moveTo>
                <a:cubicBezTo>
                  <a:pt x="0" y="197733"/>
                  <a:pt x="19933" y="177800"/>
                  <a:pt x="44450" y="177800"/>
                </a:cubicBezTo>
                <a:lnTo>
                  <a:pt x="66675" y="177800"/>
                </a:lnTo>
                <a:lnTo>
                  <a:pt x="66675" y="222250"/>
                </a:lnTo>
                <a:cubicBezTo>
                  <a:pt x="66675" y="228362"/>
                  <a:pt x="71676" y="233363"/>
                  <a:pt x="77788" y="233363"/>
                </a:cubicBezTo>
                <a:lnTo>
                  <a:pt x="100013" y="233363"/>
                </a:lnTo>
                <a:cubicBezTo>
                  <a:pt x="106124" y="233363"/>
                  <a:pt x="111125" y="228362"/>
                  <a:pt x="111125" y="222250"/>
                </a:cubicBezTo>
                <a:lnTo>
                  <a:pt x="111125" y="177800"/>
                </a:lnTo>
                <a:lnTo>
                  <a:pt x="133350" y="177800"/>
                </a:lnTo>
                <a:cubicBezTo>
                  <a:pt x="157867" y="177800"/>
                  <a:pt x="177800" y="197733"/>
                  <a:pt x="177800" y="222250"/>
                </a:cubicBezTo>
                <a:lnTo>
                  <a:pt x="177800" y="311150"/>
                </a:lnTo>
                <a:cubicBezTo>
                  <a:pt x="177800" y="335667"/>
                  <a:pt x="157867" y="355600"/>
                  <a:pt x="1333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222250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750300" y="1168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Strategy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93100" y="1574800"/>
            <a:ext cx="711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restock of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top-20 out-of-stock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products. Priority: OnePlus 11 (₹349M), iPhone 13 (₹279M), Sony Headphones (₹282M).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Unlock ₹29.6B blocked revenue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000" y="2946400"/>
            <a:ext cx="7302500" cy="177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000" y="2946400"/>
            <a:ext cx="38100" cy="17780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375" y="3098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78646" y="27156"/>
                </a:moveTo>
                <a:lnTo>
                  <a:pt x="381575" y="131544"/>
                </a:lnTo>
                <a:cubicBezTo>
                  <a:pt x="400814" y="151061"/>
                  <a:pt x="400814" y="182314"/>
                  <a:pt x="381575" y="201831"/>
                </a:cubicBezTo>
                <a:lnTo>
                  <a:pt x="272951" y="311775"/>
                </a:lnTo>
                <a:cubicBezTo>
                  <a:pt x="266492" y="318304"/>
                  <a:pt x="255935" y="318373"/>
                  <a:pt x="249406" y="311914"/>
                </a:cubicBezTo>
                <a:cubicBezTo>
                  <a:pt x="242878" y="305455"/>
                  <a:pt x="242808" y="294898"/>
                  <a:pt x="249267" y="288369"/>
                </a:cubicBezTo>
                <a:lnTo>
                  <a:pt x="357892" y="178356"/>
                </a:lnTo>
                <a:cubicBezTo>
                  <a:pt x="364282" y="171896"/>
                  <a:pt x="364282" y="161409"/>
                  <a:pt x="357892" y="154950"/>
                </a:cubicBezTo>
                <a:lnTo>
                  <a:pt x="254893" y="50631"/>
                </a:lnTo>
                <a:cubicBezTo>
                  <a:pt x="248434" y="44103"/>
                  <a:pt x="248503" y="33546"/>
                  <a:pt x="255032" y="27087"/>
                </a:cubicBezTo>
                <a:cubicBezTo>
                  <a:pt x="261560" y="20628"/>
                  <a:pt x="272117" y="20697"/>
                  <a:pt x="278576" y="27226"/>
                </a:cubicBezTo>
                <a:close/>
                <a:moveTo>
                  <a:pt x="22294" y="159395"/>
                </a:moveTo>
                <a:lnTo>
                  <a:pt x="22294" y="66675"/>
                </a:lnTo>
                <a:cubicBezTo>
                  <a:pt x="22294" y="42158"/>
                  <a:pt x="42228" y="22225"/>
                  <a:pt x="66744" y="22225"/>
                </a:cubicBezTo>
                <a:lnTo>
                  <a:pt x="159464" y="22225"/>
                </a:lnTo>
                <a:cubicBezTo>
                  <a:pt x="171271" y="22225"/>
                  <a:pt x="182592" y="26878"/>
                  <a:pt x="190927" y="35213"/>
                </a:cubicBezTo>
                <a:lnTo>
                  <a:pt x="290939" y="135225"/>
                </a:lnTo>
                <a:cubicBezTo>
                  <a:pt x="308302" y="152589"/>
                  <a:pt x="308302" y="180717"/>
                  <a:pt x="290939" y="198080"/>
                </a:cubicBezTo>
                <a:lnTo>
                  <a:pt x="198219" y="290800"/>
                </a:lnTo>
                <a:cubicBezTo>
                  <a:pt x="180856" y="308164"/>
                  <a:pt x="152727" y="308164"/>
                  <a:pt x="135364" y="290800"/>
                </a:cubicBezTo>
                <a:lnTo>
                  <a:pt x="35352" y="190788"/>
                </a:lnTo>
                <a:cubicBezTo>
                  <a:pt x="27017" y="182453"/>
                  <a:pt x="22364" y="171133"/>
                  <a:pt x="22364" y="159325"/>
                </a:cubicBezTo>
                <a:close/>
                <a:moveTo>
                  <a:pt x="122307" y="100013"/>
                </a:moveTo>
                <a:cubicBezTo>
                  <a:pt x="122307" y="87746"/>
                  <a:pt x="112348" y="77788"/>
                  <a:pt x="100082" y="77788"/>
                </a:cubicBezTo>
                <a:cubicBezTo>
                  <a:pt x="87816" y="77788"/>
                  <a:pt x="77857" y="87746"/>
                  <a:pt x="77857" y="100013"/>
                </a:cubicBezTo>
                <a:cubicBezTo>
                  <a:pt x="77857" y="112279"/>
                  <a:pt x="87816" y="122238"/>
                  <a:pt x="100082" y="122238"/>
                </a:cubicBezTo>
                <a:cubicBezTo>
                  <a:pt x="112348" y="122238"/>
                  <a:pt x="122307" y="112279"/>
                  <a:pt x="122307" y="100013"/>
                </a:cubicBezTo>
                <a:close/>
              </a:path>
            </a:pathLst>
          </a:custGeom>
          <a:solidFill>
            <a:srgbClr val="FFD600"/>
          </a:solidFill>
          <a:ln/>
        </p:spPr>
      </p:sp>
      <p:sp>
        <p:nvSpPr>
          <p:cNvPr id="19" name="Text 17"/>
          <p:cNvSpPr/>
          <p:nvPr/>
        </p:nvSpPr>
        <p:spPr>
          <a:xfrm>
            <a:off x="1320800" y="3098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D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Strategy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" y="3505200"/>
            <a:ext cx="685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value_score for all products below 2.0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Apply minimum margin floor. Remove discount on luxury items.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D6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Reduce avg discount from 38.57% to &lt;25%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64500" y="2946400"/>
            <a:ext cx="7556500" cy="177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Shape 20"/>
          <p:cNvSpPr/>
          <p:nvPr/>
        </p:nvSpPr>
        <p:spPr>
          <a:xfrm>
            <a:off x="8064500" y="2946400"/>
            <a:ext cx="38100" cy="1778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3" name="Shape 21"/>
          <p:cNvSpPr/>
          <p:nvPr/>
        </p:nvSpPr>
        <p:spPr>
          <a:xfrm>
            <a:off x="8293100" y="3098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00E676"/>
          </a:solidFill>
          <a:ln/>
        </p:spPr>
      </p:sp>
      <p:sp>
        <p:nvSpPr>
          <p:cNvPr id="24" name="Text 22"/>
          <p:cNvSpPr/>
          <p:nvPr/>
        </p:nvSpPr>
        <p:spPr>
          <a:xfrm>
            <a:off x="8750300" y="3098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E6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Management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3100" y="3505200"/>
            <a:ext cx="711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or rework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272 Poor-rated products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Prioritize quality improvements in Luxury and Premium segments.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Reduce Poor rating % from 13.6% to &lt;5%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000" y="4953000"/>
            <a:ext cx="14986000" cy="508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7" name="Text 25"/>
          <p:cNvSpPr/>
          <p:nvPr/>
        </p:nvSpPr>
        <p:spPr>
          <a:xfrm>
            <a:off x="889000" y="4953000"/>
            <a:ext cx="1447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not just a visual project — it is a decision-making system. Every chart answers a specific strategic question.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000" y="5943600"/>
            <a:ext cx="14986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000" y="5943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0" name="Text 28"/>
          <p:cNvSpPr/>
          <p:nvPr/>
        </p:nvSpPr>
        <p:spPr>
          <a:xfrm>
            <a:off x="736600" y="59436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 Action Items — Top Out-of-Stock Products Requiring Emergency Restock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6273800"/>
          <a:ext cx="14986000" cy="1778000"/>
        </p:xfrm>
        <a:graphic>
          <a:graphicData uri="http://schemas.openxmlformats.org/drawingml/2006/table">
            <a:tbl>
              <a:tblPr/>
              <a:tblGrid>
                <a:gridCol w="374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Brand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OnePlus 11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OnePlus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₹349M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 of Stock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Emergency Restock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Sony Headphones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Sony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₹282M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 of Stock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Emergency Restock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iPhone 13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₹279M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6B6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 of Stock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D6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Restock Plan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33" name="Text 30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Dashboard Insights, Revenue Potential Analysis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&amp; Solutions — Real problem-solving across 8 technical hurdles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65200"/>
            <a:ext cx="14986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652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652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Challenges Faced and Solutions Implemented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270000"/>
          <a:ext cx="14986000" cy="508000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Challenge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Solution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0D1B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Learning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Matrix vs Table confusion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Switched to Table visual for clean horizontal row-by-row layout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Table &gt; Matrix for lists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Scatter chart bubble clustering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Added constant lines for avg popularity and value score creating 4 strategic quadrants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Quadrant analysis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Monthly trend line flat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Replaced month_name (alphabetical) with month_added (numeric) on X-axis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Numeric sort matters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Two identical Treemaps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Changed second treemap to Popularity + Brand focus with color saturation by value_score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Differentiate by metric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Two identical Donut charts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 donut = count-based rating split; Second = revenue-based stock status split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Count vs Revenue lens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Slicer styling confusion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Used Tile for Category, Dropdown for Brand, List for Price Segment and Quarter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Match style to data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DAX Measures complexity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Created calculated measures for KPIs instead of raw field aggregations for better control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DAX &gt; raw aggregations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 spacing issues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Multiple iterations to achieve clean executive layout with proper whitespace hierarchy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C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Whitespace is design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5000" y="6604000"/>
            <a:ext cx="14986000" cy="4572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1" name="Shape 8"/>
          <p:cNvSpPr/>
          <p:nvPr/>
        </p:nvSpPr>
        <p:spPr>
          <a:xfrm>
            <a:off x="635000" y="6604000"/>
            <a:ext cx="38100" cy="4572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9" name="Text 9"/>
          <p:cNvSpPr/>
          <p:nvPr/>
        </p:nvSpPr>
        <p:spPr>
          <a:xfrm>
            <a:off x="863600" y="6604000"/>
            <a:ext cx="145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"Real projects have real challenges. These solutions demonstrate problem-solving ability — which is what every employer looks for in a data analyst."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14" name="Text 11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Experience: Power BI Desktop, iterative dashboard design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&amp; Technologies — Full Microsoft BI ecosystem from raw Excel to executive dashboard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041400"/>
            <a:ext cx="4826000" cy="203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041400"/>
            <a:ext cx="4826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8" name="Shape 6"/>
          <p:cNvSpPr/>
          <p:nvPr/>
        </p:nvSpPr>
        <p:spPr>
          <a:xfrm>
            <a:off x="863600" y="1244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00C6FF"/>
          </a:solidFill>
          <a:ln/>
        </p:spPr>
      </p:sp>
      <p:sp>
        <p:nvSpPr>
          <p:cNvPr id="9" name="Text 7"/>
          <p:cNvSpPr/>
          <p:nvPr/>
        </p:nvSpPr>
        <p:spPr>
          <a:xfrm>
            <a:off x="1397000" y="1244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1752600"/>
            <a:ext cx="439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dashboard building and visual design tool. Used for all 8 visuals, 5 KPIs, 5 slicers, and the executive table layout.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1041400"/>
            <a:ext cx="4826000" cy="203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0" y="1041400"/>
            <a:ext cx="4826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1244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C996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000" y="1244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Query Editor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1752600"/>
            <a:ext cx="439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and transformation. Fixed data types, validated calculated columns, checked null values across all 25 fields.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1041400"/>
            <a:ext cx="4826000" cy="203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1041400"/>
            <a:ext cx="4826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98200" y="1244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00C6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557000" y="1244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23600" y="1752600"/>
            <a:ext cx="439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 Expressions for all 5 KPI measures: Total Revenue, Avg Rating, Avg Discount, Avg Value Score, In Stock Count.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000" y="3302000"/>
            <a:ext cx="4826000" cy="203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000" y="3302000"/>
            <a:ext cx="4826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5052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130175" y="211693"/>
                </a:moveTo>
                <a:cubicBezTo>
                  <a:pt x="124301" y="202962"/>
                  <a:pt x="112474" y="200581"/>
                  <a:pt x="103743" y="206375"/>
                </a:cubicBezTo>
                <a:cubicBezTo>
                  <a:pt x="95012" y="212169"/>
                  <a:pt x="92631" y="224076"/>
                  <a:pt x="98425" y="232807"/>
                </a:cubicBezTo>
                <a:lnTo>
                  <a:pt x="129540" y="279400"/>
                </a:lnTo>
                <a:lnTo>
                  <a:pt x="98425" y="325993"/>
                </a:lnTo>
                <a:cubicBezTo>
                  <a:pt x="92551" y="334724"/>
                  <a:pt x="94932" y="346551"/>
                  <a:pt x="103743" y="352425"/>
                </a:cubicBezTo>
                <a:cubicBezTo>
                  <a:pt x="112554" y="358299"/>
                  <a:pt x="124301" y="355918"/>
                  <a:pt x="130175" y="347107"/>
                </a:cubicBezTo>
                <a:lnTo>
                  <a:pt x="152400" y="313769"/>
                </a:lnTo>
                <a:lnTo>
                  <a:pt x="174625" y="347107"/>
                </a:lnTo>
                <a:cubicBezTo>
                  <a:pt x="180499" y="355838"/>
                  <a:pt x="192326" y="358219"/>
                  <a:pt x="201057" y="352425"/>
                </a:cubicBezTo>
                <a:cubicBezTo>
                  <a:pt x="209788" y="346631"/>
                  <a:pt x="212169" y="334724"/>
                  <a:pt x="206375" y="325993"/>
                </a:cubicBezTo>
                <a:lnTo>
                  <a:pt x="175260" y="279400"/>
                </a:lnTo>
                <a:lnTo>
                  <a:pt x="206375" y="232807"/>
                </a:lnTo>
                <a:cubicBezTo>
                  <a:pt x="212249" y="224076"/>
                  <a:pt x="209868" y="212249"/>
                  <a:pt x="201057" y="206375"/>
                </a:cubicBezTo>
                <a:cubicBezTo>
                  <a:pt x="192246" y="200501"/>
                  <a:pt x="180499" y="202883"/>
                  <a:pt x="174625" y="211693"/>
                </a:cubicBezTo>
                <a:lnTo>
                  <a:pt x="152400" y="245031"/>
                </a:lnTo>
                <a:lnTo>
                  <a:pt x="130175" y="211693"/>
                </a:lnTo>
                <a:close/>
              </a:path>
            </a:pathLst>
          </a:custGeom>
          <a:solidFill>
            <a:srgbClr val="C9963B"/>
          </a:solidFill>
          <a:ln/>
        </p:spPr>
      </p:sp>
      <p:sp>
        <p:nvSpPr>
          <p:cNvPr id="24" name="Text 22"/>
          <p:cNvSpPr/>
          <p:nvPr/>
        </p:nvSpPr>
        <p:spPr>
          <a:xfrm>
            <a:off x="1397000" y="35052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(.xlsx)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" y="4013200"/>
            <a:ext cx="439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dataset containing 2000 rows and 25 columns. Imported via Get Data &gt; Excel connector into Power BI.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0" y="3302000"/>
            <a:ext cx="4826000" cy="203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0" y="3302000"/>
            <a:ext cx="4826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3505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381000"/>
                </a:moveTo>
                <a:cubicBezTo>
                  <a:pt x="315436" y="381000"/>
                  <a:pt x="406400" y="295672"/>
                  <a:pt x="406400" y="190500"/>
                </a:cubicBezTo>
                <a:cubicBezTo>
                  <a:pt x="406400" y="85328"/>
                  <a:pt x="315436" y="0"/>
                  <a:pt x="203200" y="0"/>
                </a:cubicBezTo>
                <a:cubicBezTo>
                  <a:pt x="90964" y="0"/>
                  <a:pt x="0" y="85328"/>
                  <a:pt x="0" y="190500"/>
                </a:cubicBezTo>
                <a:cubicBezTo>
                  <a:pt x="0" y="233601"/>
                  <a:pt x="15240" y="273288"/>
                  <a:pt x="40958" y="305197"/>
                </a:cubicBezTo>
                <a:lnTo>
                  <a:pt x="2223" y="378460"/>
                </a:lnTo>
                <a:cubicBezTo>
                  <a:pt x="-1587" y="385604"/>
                  <a:pt x="-397" y="394335"/>
                  <a:pt x="5080" y="400288"/>
                </a:cubicBezTo>
                <a:cubicBezTo>
                  <a:pt x="10557" y="406241"/>
                  <a:pt x="19209" y="408067"/>
                  <a:pt x="26591" y="404892"/>
                </a:cubicBezTo>
                <a:lnTo>
                  <a:pt x="120571" y="364649"/>
                </a:lnTo>
                <a:cubicBezTo>
                  <a:pt x="145812" y="375126"/>
                  <a:pt x="173752" y="381000"/>
                  <a:pt x="203200" y="381000"/>
                </a:cubicBezTo>
                <a:close/>
                <a:moveTo>
                  <a:pt x="101600" y="165100"/>
                </a:moveTo>
                <a:cubicBezTo>
                  <a:pt x="115619" y="165100"/>
                  <a:pt x="127000" y="176481"/>
                  <a:pt x="127000" y="190500"/>
                </a:cubicBezTo>
                <a:cubicBezTo>
                  <a:pt x="127000" y="204519"/>
                  <a:pt x="115619" y="215900"/>
                  <a:pt x="101600" y="215900"/>
                </a:cubicBezTo>
                <a:cubicBezTo>
                  <a:pt x="87581" y="215900"/>
                  <a:pt x="76200" y="204519"/>
                  <a:pt x="76200" y="190500"/>
                </a:cubicBezTo>
                <a:cubicBezTo>
                  <a:pt x="76200" y="176481"/>
                  <a:pt x="87581" y="165100"/>
                  <a:pt x="101600" y="165100"/>
                </a:cubicBezTo>
                <a:close/>
                <a:moveTo>
                  <a:pt x="203200" y="165100"/>
                </a:moveTo>
                <a:cubicBezTo>
                  <a:pt x="217219" y="165100"/>
                  <a:pt x="228600" y="176481"/>
                  <a:pt x="228600" y="190500"/>
                </a:cubicBezTo>
                <a:cubicBezTo>
                  <a:pt x="228600" y="204519"/>
                  <a:pt x="217219" y="215900"/>
                  <a:pt x="203200" y="215900"/>
                </a:cubicBezTo>
                <a:cubicBezTo>
                  <a:pt x="189181" y="215900"/>
                  <a:pt x="177800" y="204519"/>
                  <a:pt x="177800" y="190500"/>
                </a:cubicBezTo>
                <a:cubicBezTo>
                  <a:pt x="177800" y="176481"/>
                  <a:pt x="189181" y="165100"/>
                  <a:pt x="203200" y="165100"/>
                </a:cubicBezTo>
                <a:close/>
                <a:moveTo>
                  <a:pt x="279400" y="190500"/>
                </a:moveTo>
                <a:cubicBezTo>
                  <a:pt x="279400" y="176481"/>
                  <a:pt x="290781" y="165100"/>
                  <a:pt x="304800" y="165100"/>
                </a:cubicBezTo>
                <a:cubicBezTo>
                  <a:pt x="318819" y="165100"/>
                  <a:pt x="330200" y="176481"/>
                  <a:pt x="330200" y="190500"/>
                </a:cubicBezTo>
                <a:cubicBezTo>
                  <a:pt x="330200" y="204519"/>
                  <a:pt x="318819" y="215900"/>
                  <a:pt x="304800" y="215900"/>
                </a:cubicBezTo>
                <a:cubicBezTo>
                  <a:pt x="290781" y="215900"/>
                  <a:pt x="279400" y="204519"/>
                  <a:pt x="279400" y="190500"/>
                </a:cubicBezTo>
                <a:close/>
              </a:path>
            </a:pathLst>
          </a:custGeom>
          <a:solidFill>
            <a:srgbClr val="00C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77000" y="35052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Q/A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3600" y="4013200"/>
            <a:ext cx="439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query feature for rapid visual prototyping. Used to quickly test chart ideas before final implementation.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795000" y="3302000"/>
            <a:ext cx="4826000" cy="2032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95000" y="3302000"/>
            <a:ext cx="4826000" cy="381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98200" y="3505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0"/>
                </a:moveTo>
                <a:cubicBezTo>
                  <a:pt x="48181" y="0"/>
                  <a:pt x="25400" y="22781"/>
                  <a:pt x="25400" y="50800"/>
                </a:cubicBezTo>
                <a:lnTo>
                  <a:pt x="25400" y="355600"/>
                </a:lnTo>
                <a:cubicBezTo>
                  <a:pt x="25400" y="383619"/>
                  <a:pt x="48181" y="406400"/>
                  <a:pt x="76200" y="406400"/>
                </a:cubicBezTo>
                <a:lnTo>
                  <a:pt x="139700" y="406400"/>
                </a:lnTo>
                <a:lnTo>
                  <a:pt x="139700" y="317500"/>
                </a:lnTo>
                <a:cubicBezTo>
                  <a:pt x="139700" y="289481"/>
                  <a:pt x="162481" y="266700"/>
                  <a:pt x="190500" y="266700"/>
                </a:cubicBezTo>
                <a:lnTo>
                  <a:pt x="330200" y="266700"/>
                </a:lnTo>
                <a:lnTo>
                  <a:pt x="330200" y="135334"/>
                </a:lnTo>
                <a:cubicBezTo>
                  <a:pt x="330200" y="121841"/>
                  <a:pt x="324882" y="108903"/>
                  <a:pt x="315357" y="99378"/>
                </a:cubicBezTo>
                <a:lnTo>
                  <a:pt x="230743" y="14843"/>
                </a:lnTo>
                <a:cubicBezTo>
                  <a:pt x="221218" y="5318"/>
                  <a:pt x="208359" y="0"/>
                  <a:pt x="194866" y="0"/>
                </a:cubicBezTo>
                <a:lnTo>
                  <a:pt x="76200" y="0"/>
                </a:lnTo>
                <a:close/>
                <a:moveTo>
                  <a:pt x="283766" y="139700"/>
                </a:moveTo>
                <a:lnTo>
                  <a:pt x="209550" y="139700"/>
                </a:lnTo>
                <a:cubicBezTo>
                  <a:pt x="198993" y="139700"/>
                  <a:pt x="190500" y="131207"/>
                  <a:pt x="190500" y="120650"/>
                </a:cubicBezTo>
                <a:lnTo>
                  <a:pt x="190500" y="46434"/>
                </a:lnTo>
                <a:lnTo>
                  <a:pt x="283766" y="139700"/>
                </a:lnTo>
                <a:close/>
                <a:moveTo>
                  <a:pt x="190500" y="301625"/>
                </a:moveTo>
                <a:cubicBezTo>
                  <a:pt x="181769" y="301625"/>
                  <a:pt x="174625" y="308769"/>
                  <a:pt x="174625" y="317500"/>
                </a:cubicBezTo>
                <a:lnTo>
                  <a:pt x="174625" y="419100"/>
                </a:lnTo>
                <a:cubicBezTo>
                  <a:pt x="174625" y="427831"/>
                  <a:pt x="181769" y="434975"/>
                  <a:pt x="190500" y="434975"/>
                </a:cubicBezTo>
                <a:cubicBezTo>
                  <a:pt x="199231" y="434975"/>
                  <a:pt x="206375" y="427831"/>
                  <a:pt x="206375" y="419100"/>
                </a:cubicBezTo>
                <a:lnTo>
                  <a:pt x="206375" y="396875"/>
                </a:lnTo>
                <a:lnTo>
                  <a:pt x="215900" y="396875"/>
                </a:lnTo>
                <a:cubicBezTo>
                  <a:pt x="242173" y="396875"/>
                  <a:pt x="263525" y="375523"/>
                  <a:pt x="263525" y="349250"/>
                </a:cubicBezTo>
                <a:cubicBezTo>
                  <a:pt x="263525" y="322977"/>
                  <a:pt x="242173" y="301625"/>
                  <a:pt x="215900" y="301625"/>
                </a:cubicBezTo>
                <a:lnTo>
                  <a:pt x="190500" y="301625"/>
                </a:lnTo>
                <a:close/>
                <a:moveTo>
                  <a:pt x="215900" y="365125"/>
                </a:moveTo>
                <a:lnTo>
                  <a:pt x="206375" y="365125"/>
                </a:lnTo>
                <a:lnTo>
                  <a:pt x="206375" y="333375"/>
                </a:lnTo>
                <a:lnTo>
                  <a:pt x="215900" y="333375"/>
                </a:lnTo>
                <a:cubicBezTo>
                  <a:pt x="224631" y="333375"/>
                  <a:pt x="231775" y="340519"/>
                  <a:pt x="231775" y="349250"/>
                </a:cubicBezTo>
                <a:cubicBezTo>
                  <a:pt x="231775" y="357981"/>
                  <a:pt x="224631" y="365125"/>
                  <a:pt x="215900" y="365125"/>
                </a:cubicBezTo>
                <a:close/>
                <a:moveTo>
                  <a:pt x="292100" y="301625"/>
                </a:moveTo>
                <a:cubicBezTo>
                  <a:pt x="283369" y="301625"/>
                  <a:pt x="276225" y="308769"/>
                  <a:pt x="276225" y="317500"/>
                </a:cubicBezTo>
                <a:lnTo>
                  <a:pt x="276225" y="419100"/>
                </a:lnTo>
                <a:cubicBezTo>
                  <a:pt x="276225" y="427831"/>
                  <a:pt x="283369" y="434975"/>
                  <a:pt x="292100" y="434975"/>
                </a:cubicBezTo>
                <a:lnTo>
                  <a:pt x="317500" y="434975"/>
                </a:lnTo>
                <a:cubicBezTo>
                  <a:pt x="340281" y="434975"/>
                  <a:pt x="358775" y="416481"/>
                  <a:pt x="358775" y="393700"/>
                </a:cubicBezTo>
                <a:lnTo>
                  <a:pt x="358775" y="342900"/>
                </a:lnTo>
                <a:cubicBezTo>
                  <a:pt x="358775" y="320119"/>
                  <a:pt x="340281" y="301625"/>
                  <a:pt x="317500" y="301625"/>
                </a:cubicBezTo>
                <a:lnTo>
                  <a:pt x="292100" y="301625"/>
                </a:lnTo>
                <a:close/>
                <a:moveTo>
                  <a:pt x="307975" y="403225"/>
                </a:moveTo>
                <a:lnTo>
                  <a:pt x="307975" y="333375"/>
                </a:lnTo>
                <a:lnTo>
                  <a:pt x="317500" y="333375"/>
                </a:lnTo>
                <a:cubicBezTo>
                  <a:pt x="322739" y="333375"/>
                  <a:pt x="327025" y="337661"/>
                  <a:pt x="327025" y="342900"/>
                </a:cubicBezTo>
                <a:lnTo>
                  <a:pt x="327025" y="393700"/>
                </a:lnTo>
                <a:cubicBezTo>
                  <a:pt x="327025" y="398939"/>
                  <a:pt x="322739" y="403225"/>
                  <a:pt x="317500" y="403225"/>
                </a:cubicBezTo>
                <a:lnTo>
                  <a:pt x="307975" y="403225"/>
                </a:lnTo>
                <a:close/>
                <a:moveTo>
                  <a:pt x="377825" y="317500"/>
                </a:moveTo>
                <a:lnTo>
                  <a:pt x="377825" y="419100"/>
                </a:lnTo>
                <a:cubicBezTo>
                  <a:pt x="377825" y="427831"/>
                  <a:pt x="384969" y="434975"/>
                  <a:pt x="393700" y="434975"/>
                </a:cubicBezTo>
                <a:cubicBezTo>
                  <a:pt x="402431" y="434975"/>
                  <a:pt x="409575" y="427831"/>
                  <a:pt x="409575" y="419100"/>
                </a:cubicBezTo>
                <a:lnTo>
                  <a:pt x="409575" y="384175"/>
                </a:lnTo>
                <a:lnTo>
                  <a:pt x="431800" y="384175"/>
                </a:lnTo>
                <a:cubicBezTo>
                  <a:pt x="440531" y="384175"/>
                  <a:pt x="447675" y="377031"/>
                  <a:pt x="447675" y="368300"/>
                </a:cubicBezTo>
                <a:cubicBezTo>
                  <a:pt x="447675" y="359569"/>
                  <a:pt x="440531" y="352425"/>
                  <a:pt x="431800" y="352425"/>
                </a:cubicBezTo>
                <a:lnTo>
                  <a:pt x="409575" y="352425"/>
                </a:lnTo>
                <a:lnTo>
                  <a:pt x="409575" y="333375"/>
                </a:lnTo>
                <a:lnTo>
                  <a:pt x="431800" y="333375"/>
                </a:lnTo>
                <a:cubicBezTo>
                  <a:pt x="440531" y="333375"/>
                  <a:pt x="447675" y="326231"/>
                  <a:pt x="447675" y="317500"/>
                </a:cubicBezTo>
                <a:cubicBezTo>
                  <a:pt x="447675" y="308769"/>
                  <a:pt x="440531" y="301625"/>
                  <a:pt x="431800" y="301625"/>
                </a:cubicBezTo>
                <a:lnTo>
                  <a:pt x="393700" y="301625"/>
                </a:lnTo>
                <a:cubicBezTo>
                  <a:pt x="384969" y="301625"/>
                  <a:pt x="377825" y="308769"/>
                  <a:pt x="377825" y="317500"/>
                </a:cubicBezTo>
                <a:close/>
              </a:path>
            </a:pathLst>
          </a:custGeom>
          <a:solidFill>
            <a:srgbClr val="C9963B"/>
          </a:solidFill>
          <a:ln/>
        </p:spPr>
      </p:sp>
      <p:sp>
        <p:nvSpPr>
          <p:cNvPr id="34" name="Text 32"/>
          <p:cNvSpPr/>
          <p:nvPr/>
        </p:nvSpPr>
        <p:spPr>
          <a:xfrm>
            <a:off x="11557000" y="35052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Export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23600" y="4013200"/>
            <a:ext cx="439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snapshot export for portfolio documentation, interview sharing, and LinkedIn showcase distribution.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000" y="5588000"/>
            <a:ext cx="14986000" cy="508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7" name="Text 35"/>
          <p:cNvSpPr/>
          <p:nvPr/>
        </p:nvSpPr>
        <p:spPr>
          <a:xfrm>
            <a:off x="889000" y="5588000"/>
            <a:ext cx="1447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BI Ecosystem: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entire pipeline from raw Excel to executive dashboard was built using the Microsoft BI stack — the industry standard for enterprise analytics.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5000" y="6604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000" y="6934200"/>
            <a:ext cx="2540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0" name="Text 38"/>
          <p:cNvSpPr/>
          <p:nvPr/>
        </p:nvSpPr>
        <p:spPr>
          <a:xfrm>
            <a:off x="635000" y="69342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Source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302000" y="7226300"/>
            <a:ext cx="762000" cy="0"/>
          </a:xfrm>
          <a:prstGeom prst="straightConnector1">
            <a:avLst/>
          </a:prstGeom>
          <a:noFill/>
          <a:ln w="25400">
            <a:solidFill>
              <a:srgbClr val="C9963B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4191000" y="6934200"/>
            <a:ext cx="2540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3" name="Text 41"/>
          <p:cNvSpPr/>
          <p:nvPr/>
        </p:nvSpPr>
        <p:spPr>
          <a:xfrm>
            <a:off x="4191000" y="69342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58000" y="7226300"/>
            <a:ext cx="762000" cy="0"/>
          </a:xfrm>
          <a:prstGeom prst="straightConnector1">
            <a:avLst/>
          </a:prstGeom>
          <a:noFill/>
          <a:ln w="25400">
            <a:solidFill>
              <a:srgbClr val="C9963B"/>
            </a:solidFill>
            <a:prstDash val="solid"/>
            <a:headEnd type="none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7747000" y="6934200"/>
            <a:ext cx="2540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6" name="Text 44"/>
          <p:cNvSpPr/>
          <p:nvPr/>
        </p:nvSpPr>
        <p:spPr>
          <a:xfrm>
            <a:off x="7747000" y="69342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Model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414000" y="7226300"/>
            <a:ext cx="762000" cy="0"/>
          </a:xfrm>
          <a:prstGeom prst="straightConnector1">
            <a:avLst/>
          </a:prstGeom>
          <a:noFill/>
          <a:ln w="25400">
            <a:solidFill>
              <a:srgbClr val="C9963B"/>
            </a:solidFill>
            <a:prstDash val="solid"/>
            <a:headEnd type="none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11303000" y="6934200"/>
            <a:ext cx="2540000" cy="635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9" name="Text 47"/>
          <p:cNvSpPr/>
          <p:nvPr/>
        </p:nvSpPr>
        <p:spPr>
          <a:xfrm>
            <a:off x="11303000" y="69342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51" name="Text 49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Stack: Microsoft Power BI + Power Query + DAX + Excel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Roadmap — From static dashboard to live AI-powered business intelligence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1041400"/>
            <a:ext cx="4826000" cy="431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041400"/>
            <a:ext cx="4826000" cy="381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Shape 6"/>
          <p:cNvSpPr/>
          <p:nvPr/>
        </p:nvSpPr>
        <p:spPr>
          <a:xfrm>
            <a:off x="635000" y="1092200"/>
            <a:ext cx="1524000" cy="3048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9" name="Text 7"/>
          <p:cNvSpPr/>
          <p:nvPr/>
        </p:nvSpPr>
        <p:spPr>
          <a:xfrm>
            <a:off x="635000" y="10922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7400" y="1473200"/>
            <a:ext cx="452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E6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 Term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7400" y="1905000"/>
            <a:ext cx="45212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database connection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to SQL Server or Azure for live data refresh instead of static Excel imports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Mobile-optimized layout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phone view for executive on-the-go access to KPIs and alerts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1041400"/>
            <a:ext cx="4826000" cy="431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041400"/>
            <a:ext cx="4826000" cy="381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0" y="1092200"/>
            <a:ext cx="1524000" cy="3048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10922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67400" y="1473200"/>
            <a:ext cx="452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D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 Term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67400" y="1905000"/>
            <a:ext cx="45212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forecasting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time intelligence measures for predictive revenue trends and seasonality analysis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Drill-through pages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Category-level and brand-level detail pages for deeper operational analysis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stock alerts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products likely to go Out of Stock based on velocity patterns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1041400"/>
            <a:ext cx="4826000" cy="431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95000" y="1041400"/>
            <a:ext cx="4826000" cy="381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5000" y="1092200"/>
            <a:ext cx="1524000" cy="304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0" y="10922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47400" y="1473200"/>
            <a:ext cx="452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Term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47400" y="1905000"/>
            <a:ext cx="45212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anomaly detection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Copilot integration for automated insight generation and anomaly flagging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analysis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integration on customer review text for automated quality scoring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Row-level security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Brand-specific access control for multi-stakeholder dashboard sharing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000" y="5588000"/>
            <a:ext cx="14986000" cy="508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" y="5588000"/>
            <a:ext cx="1447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dashboard is Version 1.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real-time data, forecasting, and AI integration, it becomes a live business intelligence system for the entire organization.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27" name="Text 25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Roadmap: Power BI Copilot, Azure, DAX Time Intelligence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635000" y="127000"/>
            <a:ext cx="50800" cy="6858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787400" y="152400"/>
            <a:ext cx="146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Conclusion — ₹45.1B revenue potential mapped with actionable intelligence for executive decision-making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" y="8636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6" name="Shape 4"/>
          <p:cNvSpPr/>
          <p:nvPr/>
        </p:nvSpPr>
        <p:spPr>
          <a:xfrm>
            <a:off x="635000" y="990600"/>
            <a:ext cx="14986000" cy="2794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990600"/>
            <a:ext cx="38100" cy="279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8" name="Text 6"/>
          <p:cNvSpPr/>
          <p:nvPr/>
        </p:nvSpPr>
        <p:spPr>
          <a:xfrm>
            <a:off x="736600" y="990600"/>
            <a:ext cx="148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000" y="1346200"/>
            <a:ext cx="4826000" cy="1270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0" name="Shape 8"/>
          <p:cNvSpPr/>
          <p:nvPr/>
        </p:nvSpPr>
        <p:spPr>
          <a:xfrm>
            <a:off x="635000" y="1346200"/>
            <a:ext cx="38100" cy="1270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1" name="Text 9"/>
          <p:cNvSpPr/>
          <p:nvPr/>
        </p:nvSpPr>
        <p:spPr>
          <a:xfrm>
            <a:off x="736600" y="13716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1371600"/>
            <a:ext cx="40386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₹45.1 Billion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revenue potential mapped across all 2000 products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1346200"/>
            <a:ext cx="4826000" cy="1270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0" y="1346200"/>
            <a:ext cx="38100" cy="1270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5816600" y="13716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000" y="1371600"/>
            <a:ext cx="40386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revenue concentration in Electronics + Luxury identified as risk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795000" y="1346200"/>
            <a:ext cx="4826000" cy="1270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0" y="1346200"/>
            <a:ext cx="38100" cy="12700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896600" y="13716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D6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1371600"/>
            <a:ext cx="40386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D6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₹29.6B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revenue at risk due to inventory gaps — fully actionable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000" y="2794000"/>
            <a:ext cx="7302500" cy="1016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000" y="2794000"/>
            <a:ext cx="38100" cy="10160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6600" y="28194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" y="2819400"/>
            <a:ext cx="647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38.57%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discount rate signals margin erosion — pricing strategy review needed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64500" y="2794000"/>
            <a:ext cx="7556500" cy="1016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26" name="Shape 24"/>
          <p:cNvSpPr/>
          <p:nvPr/>
        </p:nvSpPr>
        <p:spPr>
          <a:xfrm>
            <a:off x="8064500" y="2794000"/>
            <a:ext cx="38100" cy="1016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7" name="Text 25"/>
          <p:cNvSpPr/>
          <p:nvPr/>
        </p:nvSpPr>
        <p:spPr>
          <a:xfrm>
            <a:off x="8166100" y="28194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6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99500" y="2819400"/>
            <a:ext cx="673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enables </a:t>
            </a:r>
            <a:r>
              <a:rPr lang="en-US" sz="1300" b="1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executive decision-making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pricing, inventory, and revenue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000" y="4064000"/>
            <a:ext cx="14986000" cy="1524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0" name="Text 28"/>
          <p:cNvSpPr/>
          <p:nvPr/>
        </p:nvSpPr>
        <p:spPr>
          <a:xfrm>
            <a:off x="889000" y="406400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Statement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dashboard transforms 2000 rows of raw product data into a strategic intelligence system that any C-suite executive can use to make ₹45 Billion decisions."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000" y="5842000"/>
            <a:ext cx="3556000" cy="1270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2" name="Text 30"/>
          <p:cNvSpPr/>
          <p:nvPr/>
        </p:nvSpPr>
        <p:spPr>
          <a:xfrm>
            <a:off x="736600" y="5918200"/>
            <a:ext cx="3352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₹45.1B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6600" y="652780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 Potential Mapped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94200" y="5842000"/>
            <a:ext cx="3556000" cy="1270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5" name="Text 33"/>
          <p:cNvSpPr/>
          <p:nvPr/>
        </p:nvSpPr>
        <p:spPr>
          <a:xfrm>
            <a:off x="4495800" y="5918200"/>
            <a:ext cx="3352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95800" y="652780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Insights Generated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53400" y="5842000"/>
            <a:ext cx="3556000" cy="1270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38" name="Text 36"/>
          <p:cNvSpPr/>
          <p:nvPr/>
        </p:nvSpPr>
        <p:spPr>
          <a:xfrm>
            <a:off x="8255000" y="5918200"/>
            <a:ext cx="3352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55000" y="652780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 + KPIs + Slicers Built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912600" y="5842000"/>
            <a:ext cx="3708400" cy="1270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1" name="Text 39"/>
          <p:cNvSpPr/>
          <p:nvPr/>
        </p:nvSpPr>
        <p:spPr>
          <a:xfrm>
            <a:off x="12014200" y="5918200"/>
            <a:ext cx="35052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E6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014200" y="65278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Decision-Making System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000" y="7366000"/>
            <a:ext cx="14986000" cy="508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44" name="Shape 42"/>
          <p:cNvSpPr/>
          <p:nvPr/>
        </p:nvSpPr>
        <p:spPr>
          <a:xfrm>
            <a:off x="635000" y="7366000"/>
            <a:ext cx="38100" cy="5080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5" name="Text 43"/>
          <p:cNvSpPr/>
          <p:nvPr/>
        </p:nvSpPr>
        <p:spPr>
          <a:xfrm>
            <a:off x="863600" y="7366000"/>
            <a:ext cx="14541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right visual, with the right data, at the right level of detail, is more powerful than any 50-page report."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000" y="8331200"/>
            <a:ext cx="149860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47" name="Text 45"/>
          <p:cNvSpPr/>
          <p:nvPr/>
        </p:nvSpPr>
        <p:spPr>
          <a:xfrm>
            <a:off x="635000" y="8432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Product Intelligence Dashboard | May 2026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5240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40800" cy="9144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940800" cy="635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2032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Open for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9000" y="3886200"/>
            <a:ext cx="2032000" cy="254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41148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Product Intelligence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9000" y="4826000"/>
            <a:ext cx="7112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Rohan Barik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&amp; Mining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Lead: Subhankar Panda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 err="1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Uptoskills</a:t>
            </a:r>
            <a:r>
              <a:rPr lang="en-US" sz="14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May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" y="6604000"/>
            <a:ext cx="711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 Power BI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89000" y="723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00C6FF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83820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A8B5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+ Interview + LinkedIn Showcase Project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40800" y="0"/>
            <a:ext cx="7315200" cy="914400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12" name="Shape 10"/>
          <p:cNvSpPr/>
          <p:nvPr/>
        </p:nvSpPr>
        <p:spPr>
          <a:xfrm>
            <a:off x="8940800" y="0"/>
            <a:ext cx="7315200" cy="508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94800" y="381000"/>
            <a:ext cx="6807200" cy="381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Shape 12"/>
          <p:cNvSpPr/>
          <p:nvPr/>
        </p:nvSpPr>
        <p:spPr>
          <a:xfrm>
            <a:off x="9194800" y="381000"/>
            <a:ext cx="38100" cy="3810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15" name="Text 13"/>
          <p:cNvSpPr/>
          <p:nvPr/>
        </p:nvSpPr>
        <p:spPr>
          <a:xfrm>
            <a:off x="9296400" y="381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96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AT A GLANCE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96400" y="9144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2,000 products | 25 columns | 4 categories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Potential: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₹45.1 Billion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Rating: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4.10 / 5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Discount: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38.57%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Stock: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683 / 2000 (34.15%)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 KPIs + 8 Charts + 1 Table + 5 Slicers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 actionable business recommendations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00C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Tool: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Microsoft Power BI Desktop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94800" y="4699000"/>
            <a:ext cx="68072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18" name="Shape 16"/>
          <p:cNvSpPr/>
          <p:nvPr/>
        </p:nvSpPr>
        <p:spPr>
          <a:xfrm>
            <a:off x="9194800" y="4876800"/>
            <a:ext cx="6807200" cy="381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94800" y="4876800"/>
            <a:ext cx="38100" cy="38100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20" name="Text 18"/>
          <p:cNvSpPr/>
          <p:nvPr/>
        </p:nvSpPr>
        <p:spPr>
          <a:xfrm>
            <a:off x="9296400" y="48768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C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HIGHLIGHTS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96400" y="53848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Decomposition Tree for revenue drill-down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Popularity vs Value Intelligence Matrix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Revenue Distribution Treemap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Executive Product Intelligence Leaderboard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Stock Status &amp; Rating Distribution Analysis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C99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Monthly Trend with Dual Axis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94800" y="8128000"/>
            <a:ext cx="2540000" cy="12700"/>
          </a:xfrm>
          <a:prstGeom prst="rect">
            <a:avLst/>
          </a:prstGeom>
          <a:solidFill>
            <a:srgbClr val="C9963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94800" y="8331200"/>
            <a:ext cx="6807200" cy="12700"/>
          </a:xfrm>
          <a:prstGeom prst="rect">
            <a:avLst/>
          </a:prstGeom>
          <a:solidFill>
            <a:srgbClr val="2A3B4C"/>
          </a:solidFill>
          <a:ln/>
        </p:spPr>
      </p:sp>
      <p:sp>
        <p:nvSpPr>
          <p:cNvPr id="24" name="Text 22"/>
          <p:cNvSpPr/>
          <p:nvPr/>
        </p:nvSpPr>
        <p:spPr>
          <a:xfrm>
            <a:off x="14859000" y="84328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A8B5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2667</Words>
  <Application>Microsoft Office PowerPoint</Application>
  <PresentationFormat>Custom</PresentationFormat>
  <Paragraphs>441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微软雅黑</vt:lpstr>
      <vt:lpstr>Arial</vt:lpstr>
      <vt:lpstr>High Tower Text</vt:lpstr>
      <vt:lpstr>Inter</vt:lpstr>
      <vt:lpstr>Montserrat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Product Intelligence Dashboard</dc:title>
  <dc:subject>E-Commerce Product Intelligence Dashboard</dc:subject>
  <dc:creator>Kimi</dc:creator>
  <cp:lastModifiedBy>Rohan Barik</cp:lastModifiedBy>
  <cp:revision>2</cp:revision>
  <dcterms:created xsi:type="dcterms:W3CDTF">2026-05-09T05:09:37Z</dcterms:created>
  <dcterms:modified xsi:type="dcterms:W3CDTF">2026-05-18T13:49:52Z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{"Label":"E-Commerce Product Intelligence Dashboard","ContentProducer":"001191110108MACG2KBH8F10000","ProduceID":"19e0b229-1602-8a50-8000-0000b764ac6f","ReservedCode1":"","ContentPropagator":"001191110108MACG2KBH8F20000","PropagateID":"19e0b229-1602-8a50-8000-0000b764ac6f","ReservedCode2":""}</vt:lpwstr>
  </property>
</Properties>
</file>